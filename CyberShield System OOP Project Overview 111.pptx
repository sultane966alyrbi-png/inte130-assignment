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5" r:id="rId7"/>
    <p:sldId id="261" r:id="rId8"/>
    <p:sldId id="266" r:id="rId9"/>
    <p:sldId id="262" r:id="rId10"/>
    <p:sldId id="267" r:id="rId11"/>
    <p:sldId id="263" r:id="rId12"/>
    <p:sldId id="264" r:id="rId13"/>
  </p:sldIdLst>
  <p:sldSz cx="18288000" cy="10287000"/>
  <p:notesSz cx="6858000" cy="9144000"/>
  <p:embeddedFontLst>
    <p:embeddedFont>
      <p:font typeface="ITC Avant Garde Gothic" panose="020B0604020202020204" charset="0"/>
      <p:regular r:id="rId14"/>
    </p:embeddedFont>
    <p:embeddedFont>
      <p:font typeface="ITC Avant Garde Gothic Bold" panose="020B0604020202020204" charset="0"/>
      <p:regular r:id="rId15"/>
    </p:embeddedFont>
    <p:embeddedFont>
      <p:font typeface="League Spartan" panose="020B0604020202020204"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27051CE-EE77-4148-A602-77263675BC6E}" v="16" dt="2026-05-05T09:57:16.2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7" d="100"/>
          <a:sy n="47" d="100"/>
        </p:scale>
        <p:origin x="1468" y="22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sv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3.sv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3.svg"/></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4319721">
            <a:off x="-7033129" y="-1139345"/>
            <a:ext cx="13181030" cy="5047255"/>
            <a:chOff x="0" y="0"/>
            <a:chExt cx="3471547" cy="1329318"/>
          </a:xfrm>
        </p:grpSpPr>
        <p:sp>
          <p:nvSpPr>
            <p:cNvPr id="3" name="Freeform 3"/>
            <p:cNvSpPr/>
            <p:nvPr/>
          </p:nvSpPr>
          <p:spPr>
            <a:xfrm>
              <a:off x="0" y="0"/>
              <a:ext cx="3471547" cy="1329318"/>
            </a:xfrm>
            <a:custGeom>
              <a:avLst/>
              <a:gdLst/>
              <a:ahLst/>
              <a:cxnLst/>
              <a:rect l="l" t="t" r="r" b="b"/>
              <a:pathLst>
                <a:path w="3471547" h="1329318">
                  <a:moveTo>
                    <a:pt x="0" y="0"/>
                  </a:moveTo>
                  <a:lnTo>
                    <a:pt x="3471547" y="0"/>
                  </a:lnTo>
                  <a:lnTo>
                    <a:pt x="3471547" y="1329318"/>
                  </a:lnTo>
                  <a:lnTo>
                    <a:pt x="0" y="1329318"/>
                  </a:lnTo>
                  <a:close/>
                </a:path>
              </a:pathLst>
            </a:custGeom>
            <a:solidFill>
              <a:srgbClr val="0B5298"/>
            </a:solidFill>
          </p:spPr>
          <p:txBody>
            <a:bodyPr/>
            <a:lstStyle/>
            <a:p>
              <a:endParaRPr lang="en-US"/>
            </a:p>
          </p:txBody>
        </p:sp>
        <p:sp>
          <p:nvSpPr>
            <p:cNvPr id="4" name="TextBox 4"/>
            <p:cNvSpPr txBox="1"/>
            <p:nvPr/>
          </p:nvSpPr>
          <p:spPr>
            <a:xfrm>
              <a:off x="0" y="-76200"/>
              <a:ext cx="3471547" cy="1405518"/>
            </a:xfrm>
            <a:prstGeom prst="rect">
              <a:avLst/>
            </a:prstGeom>
          </p:spPr>
          <p:txBody>
            <a:bodyPr lIns="50800" tIns="50800" rIns="50800" bIns="50800" rtlCol="0" anchor="ctr"/>
            <a:lstStyle/>
            <a:p>
              <a:pPr marL="0" lvl="0" indent="0" algn="ctr">
                <a:lnSpc>
                  <a:spcPts val="2659"/>
                </a:lnSpc>
              </a:pPr>
              <a:endParaRPr/>
            </a:p>
          </p:txBody>
        </p:sp>
      </p:grpSp>
      <p:sp>
        <p:nvSpPr>
          <p:cNvPr id="5" name="Freeform 5"/>
          <p:cNvSpPr/>
          <p:nvPr/>
        </p:nvSpPr>
        <p:spPr>
          <a:xfrm>
            <a:off x="-442614" y="6286303"/>
            <a:ext cx="2114182" cy="4291608"/>
          </a:xfrm>
          <a:custGeom>
            <a:avLst/>
            <a:gdLst/>
            <a:ahLst/>
            <a:cxnLst/>
            <a:rect l="l" t="t" r="r" b="b"/>
            <a:pathLst>
              <a:path w="2114182" h="4291608">
                <a:moveTo>
                  <a:pt x="0" y="0"/>
                </a:moveTo>
                <a:lnTo>
                  <a:pt x="2114181" y="0"/>
                </a:lnTo>
                <a:lnTo>
                  <a:pt x="2114181" y="4291609"/>
                </a:lnTo>
                <a:lnTo>
                  <a:pt x="0" y="4291609"/>
                </a:lnTo>
                <a:lnTo>
                  <a:pt x="0" y="0"/>
                </a:lnTo>
                <a:close/>
              </a:path>
            </a:pathLst>
          </a:custGeom>
          <a:blipFill>
            <a:blip r:embed="rId2"/>
            <a:stretch>
              <a:fillRect/>
            </a:stretch>
          </a:blipFill>
        </p:spPr>
        <p:txBody>
          <a:bodyPr/>
          <a:lstStyle/>
          <a:p>
            <a:endParaRPr lang="en-US"/>
          </a:p>
        </p:txBody>
      </p:sp>
      <p:grpSp>
        <p:nvGrpSpPr>
          <p:cNvPr id="6" name="Group 6"/>
          <p:cNvGrpSpPr/>
          <p:nvPr/>
        </p:nvGrpSpPr>
        <p:grpSpPr>
          <a:xfrm rot="-4319721">
            <a:off x="11697485" y="6169918"/>
            <a:ext cx="13181030" cy="4290457"/>
            <a:chOff x="0" y="0"/>
            <a:chExt cx="3471547" cy="1129997"/>
          </a:xfrm>
        </p:grpSpPr>
        <p:sp>
          <p:nvSpPr>
            <p:cNvPr id="7" name="Freeform 7"/>
            <p:cNvSpPr/>
            <p:nvPr/>
          </p:nvSpPr>
          <p:spPr>
            <a:xfrm>
              <a:off x="0" y="0"/>
              <a:ext cx="3471547" cy="1129997"/>
            </a:xfrm>
            <a:custGeom>
              <a:avLst/>
              <a:gdLst/>
              <a:ahLst/>
              <a:cxnLst/>
              <a:rect l="l" t="t" r="r" b="b"/>
              <a:pathLst>
                <a:path w="3471547" h="1129997">
                  <a:moveTo>
                    <a:pt x="0" y="0"/>
                  </a:moveTo>
                  <a:lnTo>
                    <a:pt x="3471547" y="0"/>
                  </a:lnTo>
                  <a:lnTo>
                    <a:pt x="3471547" y="1129997"/>
                  </a:lnTo>
                  <a:lnTo>
                    <a:pt x="0" y="1129997"/>
                  </a:lnTo>
                  <a:close/>
                </a:path>
              </a:pathLst>
            </a:custGeom>
            <a:solidFill>
              <a:srgbClr val="0B5298"/>
            </a:solidFill>
          </p:spPr>
          <p:txBody>
            <a:bodyPr/>
            <a:lstStyle/>
            <a:p>
              <a:endParaRPr lang="en-US"/>
            </a:p>
          </p:txBody>
        </p:sp>
        <p:sp>
          <p:nvSpPr>
            <p:cNvPr id="8" name="TextBox 8"/>
            <p:cNvSpPr txBox="1"/>
            <p:nvPr/>
          </p:nvSpPr>
          <p:spPr>
            <a:xfrm>
              <a:off x="0" y="-76200"/>
              <a:ext cx="3471547" cy="1206197"/>
            </a:xfrm>
            <a:prstGeom prst="rect">
              <a:avLst/>
            </a:prstGeom>
          </p:spPr>
          <p:txBody>
            <a:bodyPr lIns="50800" tIns="50800" rIns="50800" bIns="50800" rtlCol="0" anchor="ctr"/>
            <a:lstStyle/>
            <a:p>
              <a:pPr marL="0" lvl="0" indent="0" algn="ctr">
                <a:lnSpc>
                  <a:spcPts val="2659"/>
                </a:lnSpc>
              </a:pPr>
              <a:endParaRPr/>
            </a:p>
          </p:txBody>
        </p:sp>
      </p:grpSp>
      <p:sp>
        <p:nvSpPr>
          <p:cNvPr id="9" name="Freeform 9"/>
          <p:cNvSpPr/>
          <p:nvPr/>
        </p:nvSpPr>
        <p:spPr>
          <a:xfrm>
            <a:off x="-734405" y="-1009042"/>
            <a:ext cx="4436419" cy="4824276"/>
          </a:xfrm>
          <a:custGeom>
            <a:avLst/>
            <a:gdLst/>
            <a:ahLst/>
            <a:cxnLst/>
            <a:rect l="l" t="t" r="r" b="b"/>
            <a:pathLst>
              <a:path w="4436419" h="4824276">
                <a:moveTo>
                  <a:pt x="0" y="0"/>
                </a:moveTo>
                <a:lnTo>
                  <a:pt x="4436419" y="0"/>
                </a:lnTo>
                <a:lnTo>
                  <a:pt x="4436419" y="4824276"/>
                </a:lnTo>
                <a:lnTo>
                  <a:pt x="0" y="482427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0" name="Freeform 10"/>
          <p:cNvSpPr/>
          <p:nvPr/>
        </p:nvSpPr>
        <p:spPr>
          <a:xfrm flipH="1" flipV="1">
            <a:off x="14470870" y="6490580"/>
            <a:ext cx="4436419" cy="4824276"/>
          </a:xfrm>
          <a:custGeom>
            <a:avLst/>
            <a:gdLst/>
            <a:ahLst/>
            <a:cxnLst/>
            <a:rect l="l" t="t" r="r" b="b"/>
            <a:pathLst>
              <a:path w="4436419" h="4824276">
                <a:moveTo>
                  <a:pt x="4436419" y="4824276"/>
                </a:moveTo>
                <a:lnTo>
                  <a:pt x="0" y="4824276"/>
                </a:lnTo>
                <a:lnTo>
                  <a:pt x="0" y="0"/>
                </a:lnTo>
                <a:lnTo>
                  <a:pt x="4436419" y="0"/>
                </a:lnTo>
                <a:lnTo>
                  <a:pt x="4436419" y="4824276"/>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1" name="Freeform 11"/>
          <p:cNvSpPr/>
          <p:nvPr/>
        </p:nvSpPr>
        <p:spPr>
          <a:xfrm>
            <a:off x="-64837" y="8060016"/>
            <a:ext cx="2312531" cy="2312531"/>
          </a:xfrm>
          <a:custGeom>
            <a:avLst/>
            <a:gdLst/>
            <a:ahLst/>
            <a:cxnLst/>
            <a:rect l="l" t="t" r="r" b="b"/>
            <a:pathLst>
              <a:path w="2312531" h="2312531">
                <a:moveTo>
                  <a:pt x="0" y="0"/>
                </a:moveTo>
                <a:lnTo>
                  <a:pt x="2312531" y="0"/>
                </a:lnTo>
                <a:lnTo>
                  <a:pt x="2312531" y="2312531"/>
                </a:lnTo>
                <a:lnTo>
                  <a:pt x="0" y="231253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2" name="Freeform 12"/>
          <p:cNvSpPr/>
          <p:nvPr/>
        </p:nvSpPr>
        <p:spPr>
          <a:xfrm flipH="1" flipV="1">
            <a:off x="16546204" y="-618883"/>
            <a:ext cx="2114182" cy="4291608"/>
          </a:xfrm>
          <a:custGeom>
            <a:avLst/>
            <a:gdLst/>
            <a:ahLst/>
            <a:cxnLst/>
            <a:rect l="l" t="t" r="r" b="b"/>
            <a:pathLst>
              <a:path w="2114182" h="4291608">
                <a:moveTo>
                  <a:pt x="2114182" y="4291608"/>
                </a:moveTo>
                <a:lnTo>
                  <a:pt x="0" y="4291608"/>
                </a:lnTo>
                <a:lnTo>
                  <a:pt x="0" y="0"/>
                </a:lnTo>
                <a:lnTo>
                  <a:pt x="2114182" y="0"/>
                </a:lnTo>
                <a:lnTo>
                  <a:pt x="2114182" y="4291608"/>
                </a:lnTo>
                <a:close/>
              </a:path>
            </a:pathLst>
          </a:custGeom>
          <a:blipFill>
            <a:blip r:embed="rId2"/>
            <a:stretch>
              <a:fillRect/>
            </a:stretch>
          </a:blipFill>
        </p:spPr>
        <p:txBody>
          <a:bodyPr/>
          <a:lstStyle/>
          <a:p>
            <a:endParaRPr lang="en-US"/>
          </a:p>
        </p:txBody>
      </p:sp>
      <p:sp>
        <p:nvSpPr>
          <p:cNvPr id="13" name="Freeform 13"/>
          <p:cNvSpPr/>
          <p:nvPr/>
        </p:nvSpPr>
        <p:spPr>
          <a:xfrm flipH="1" flipV="1">
            <a:off x="15975469" y="-127566"/>
            <a:ext cx="2312531" cy="2312531"/>
          </a:xfrm>
          <a:custGeom>
            <a:avLst/>
            <a:gdLst/>
            <a:ahLst/>
            <a:cxnLst/>
            <a:rect l="l" t="t" r="r" b="b"/>
            <a:pathLst>
              <a:path w="2312531" h="2312531">
                <a:moveTo>
                  <a:pt x="2312531" y="2312532"/>
                </a:moveTo>
                <a:lnTo>
                  <a:pt x="0" y="2312532"/>
                </a:lnTo>
                <a:lnTo>
                  <a:pt x="0" y="0"/>
                </a:lnTo>
                <a:lnTo>
                  <a:pt x="2312531" y="0"/>
                </a:lnTo>
                <a:lnTo>
                  <a:pt x="2312531" y="2312532"/>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4" name="TextBox 14"/>
          <p:cNvSpPr txBox="1"/>
          <p:nvPr/>
        </p:nvSpPr>
        <p:spPr>
          <a:xfrm>
            <a:off x="4704227" y="7395647"/>
            <a:ext cx="8879546" cy="2081980"/>
          </a:xfrm>
          <a:prstGeom prst="rect">
            <a:avLst/>
          </a:prstGeom>
        </p:spPr>
        <p:txBody>
          <a:bodyPr lIns="0" tIns="0" rIns="0" bIns="0" rtlCol="0" anchor="t">
            <a:spAutoFit/>
          </a:bodyPr>
          <a:lstStyle/>
          <a:p>
            <a:pPr marL="0" lvl="0" indent="0" algn="ctr">
              <a:lnSpc>
                <a:spcPts val="2731"/>
              </a:lnSpc>
            </a:pPr>
            <a:r>
              <a:rPr lang="en-US" sz="2731" dirty="0">
                <a:solidFill>
                  <a:srgbClr val="052F58"/>
                </a:solidFill>
                <a:latin typeface="ITC Avant Garde Gothic"/>
                <a:ea typeface="ITC Avant Garde Gothic"/>
                <a:cs typeface="ITC Avant Garde Gothic"/>
                <a:sym typeface="ITC Avant Garde Gothic"/>
              </a:rPr>
              <a:t>A cybersecurity system designed with OOP principles</a:t>
            </a:r>
          </a:p>
          <a:p>
            <a:pPr marL="0" lvl="0" indent="0" algn="ctr">
              <a:lnSpc>
                <a:spcPts val="2731"/>
              </a:lnSpc>
            </a:pPr>
            <a:r>
              <a:rPr lang="en-US" sz="2731" dirty="0">
                <a:solidFill>
                  <a:srgbClr val="052F58"/>
                </a:solidFill>
                <a:latin typeface="ITC Avant Garde Gothic"/>
                <a:ea typeface="ITC Avant Garde Gothic"/>
                <a:cs typeface="ITC Avant Garde Gothic"/>
                <a:sym typeface="ITC Avant Garde Gothic"/>
              </a:rPr>
              <a:t>Prepared by: Sultan Khalid Al Yarabi, Malik Marzooq Al Rahbi, Khamis Hamed Alowaisi, Mohammed Naeem Al Gheilani</a:t>
            </a:r>
            <a:endParaRPr lang="ar-OM" sz="2731" dirty="0">
              <a:solidFill>
                <a:srgbClr val="052F58"/>
              </a:solidFill>
              <a:latin typeface="ITC Avant Garde Gothic"/>
              <a:ea typeface="ITC Avant Garde Gothic"/>
              <a:cs typeface="ITC Avant Garde Gothic"/>
              <a:sym typeface="ITC Avant Garde Gothic"/>
            </a:endParaRPr>
          </a:p>
          <a:p>
            <a:pPr marL="0" lvl="0" indent="0" algn="ctr">
              <a:lnSpc>
                <a:spcPts val="2731"/>
              </a:lnSpc>
            </a:pPr>
            <a:endParaRPr lang="en-US" sz="2731" dirty="0">
              <a:solidFill>
                <a:srgbClr val="052F58"/>
              </a:solidFill>
              <a:latin typeface="ITC Avant Garde Gothic"/>
              <a:ea typeface="ITC Avant Garde Gothic"/>
              <a:cs typeface="ITC Avant Garde Gothic"/>
              <a:sym typeface="ITC Avant Garde Gothic"/>
            </a:endParaRPr>
          </a:p>
          <a:p>
            <a:pPr marL="0" lvl="0" indent="0" algn="ctr">
              <a:lnSpc>
                <a:spcPts val="2731"/>
              </a:lnSpc>
            </a:pPr>
            <a:r>
              <a:rPr lang="en-US" sz="2731" dirty="0">
                <a:solidFill>
                  <a:srgbClr val="052F58"/>
                </a:solidFill>
                <a:latin typeface="ITC Avant Garde Gothic"/>
                <a:ea typeface="ITC Avant Garde Gothic"/>
                <a:cs typeface="ITC Avant Garde Gothic"/>
                <a:sym typeface="ITC Avant Garde Gothic"/>
              </a:rPr>
              <a:t>A' Sharqiyah University</a:t>
            </a:r>
          </a:p>
        </p:txBody>
      </p:sp>
      <p:sp>
        <p:nvSpPr>
          <p:cNvPr id="15" name="TextBox 15"/>
          <p:cNvSpPr txBox="1"/>
          <p:nvPr/>
        </p:nvSpPr>
        <p:spPr>
          <a:xfrm>
            <a:off x="2320594" y="4653434"/>
            <a:ext cx="13654875" cy="1647665"/>
          </a:xfrm>
          <a:prstGeom prst="rect">
            <a:avLst/>
          </a:prstGeom>
        </p:spPr>
        <p:txBody>
          <a:bodyPr lIns="0" tIns="0" rIns="0" bIns="0" rtlCol="0" anchor="t">
            <a:spAutoFit/>
          </a:bodyPr>
          <a:lstStyle/>
          <a:p>
            <a:pPr marL="0" lvl="0" indent="0" algn="ctr">
              <a:lnSpc>
                <a:spcPts val="11547"/>
              </a:lnSpc>
            </a:pPr>
            <a:r>
              <a:rPr lang="en-US" sz="14434" b="1">
                <a:solidFill>
                  <a:srgbClr val="052F58"/>
                </a:solidFill>
                <a:latin typeface="League Spartan"/>
                <a:ea typeface="League Spartan"/>
                <a:cs typeface="League Spartan"/>
                <a:sym typeface="League Spartan"/>
              </a:rPr>
              <a:t>OOP PROJECT</a:t>
            </a:r>
          </a:p>
        </p:txBody>
      </p:sp>
      <p:sp>
        <p:nvSpPr>
          <p:cNvPr id="16" name="TextBox 16"/>
          <p:cNvSpPr txBox="1"/>
          <p:nvPr/>
        </p:nvSpPr>
        <p:spPr>
          <a:xfrm>
            <a:off x="4146923" y="2681335"/>
            <a:ext cx="9994155" cy="1094506"/>
          </a:xfrm>
          <a:prstGeom prst="rect">
            <a:avLst/>
          </a:prstGeom>
        </p:spPr>
        <p:txBody>
          <a:bodyPr lIns="0" tIns="0" rIns="0" bIns="0" rtlCol="0" anchor="t">
            <a:spAutoFit/>
          </a:bodyPr>
          <a:lstStyle/>
          <a:p>
            <a:pPr marL="0" lvl="0" indent="0" algn="ctr">
              <a:lnSpc>
                <a:spcPts val="6586"/>
              </a:lnSpc>
            </a:pPr>
            <a:r>
              <a:rPr lang="en-US" sz="8232">
                <a:solidFill>
                  <a:srgbClr val="052F58"/>
                </a:solidFill>
                <a:latin typeface="ITC Avant Garde Gothic"/>
                <a:ea typeface="ITC Avant Garde Gothic"/>
                <a:cs typeface="ITC Avant Garde Gothic"/>
                <a:sym typeface="ITC Avant Garde Gothic"/>
              </a:rPr>
              <a:t>CyberShield System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4319721">
            <a:off x="-7033129" y="-1139345"/>
            <a:ext cx="13181030" cy="5047255"/>
            <a:chOff x="0" y="0"/>
            <a:chExt cx="3471547" cy="1329318"/>
          </a:xfrm>
        </p:grpSpPr>
        <p:sp>
          <p:nvSpPr>
            <p:cNvPr id="3" name="Freeform 3"/>
            <p:cNvSpPr/>
            <p:nvPr/>
          </p:nvSpPr>
          <p:spPr>
            <a:xfrm>
              <a:off x="0" y="0"/>
              <a:ext cx="3471547" cy="1329318"/>
            </a:xfrm>
            <a:custGeom>
              <a:avLst/>
              <a:gdLst/>
              <a:ahLst/>
              <a:cxnLst/>
              <a:rect l="l" t="t" r="r" b="b"/>
              <a:pathLst>
                <a:path w="3471547" h="1329318">
                  <a:moveTo>
                    <a:pt x="0" y="0"/>
                  </a:moveTo>
                  <a:lnTo>
                    <a:pt x="3471547" y="0"/>
                  </a:lnTo>
                  <a:lnTo>
                    <a:pt x="3471547" y="1329318"/>
                  </a:lnTo>
                  <a:lnTo>
                    <a:pt x="0" y="1329318"/>
                  </a:lnTo>
                  <a:close/>
                </a:path>
              </a:pathLst>
            </a:custGeom>
            <a:solidFill>
              <a:srgbClr val="0B5298"/>
            </a:solidFill>
          </p:spPr>
          <p:txBody>
            <a:bodyPr/>
            <a:lstStyle/>
            <a:p>
              <a:endParaRPr lang="en-US"/>
            </a:p>
          </p:txBody>
        </p:sp>
        <p:sp>
          <p:nvSpPr>
            <p:cNvPr id="4" name="TextBox 4"/>
            <p:cNvSpPr txBox="1"/>
            <p:nvPr/>
          </p:nvSpPr>
          <p:spPr>
            <a:xfrm>
              <a:off x="0" y="-76200"/>
              <a:ext cx="3471547" cy="1405518"/>
            </a:xfrm>
            <a:prstGeom prst="rect">
              <a:avLst/>
            </a:prstGeom>
          </p:spPr>
          <p:txBody>
            <a:bodyPr lIns="50800" tIns="50800" rIns="50800" bIns="50800" rtlCol="0" anchor="ctr"/>
            <a:lstStyle/>
            <a:p>
              <a:pPr marL="0" lvl="0" indent="0" algn="ctr">
                <a:lnSpc>
                  <a:spcPts val="2659"/>
                </a:lnSpc>
              </a:pPr>
              <a:endParaRPr/>
            </a:p>
          </p:txBody>
        </p:sp>
      </p:grpSp>
      <p:sp>
        <p:nvSpPr>
          <p:cNvPr id="5" name="Freeform 5"/>
          <p:cNvSpPr/>
          <p:nvPr/>
        </p:nvSpPr>
        <p:spPr>
          <a:xfrm>
            <a:off x="-442614" y="6286303"/>
            <a:ext cx="2114182" cy="4291608"/>
          </a:xfrm>
          <a:custGeom>
            <a:avLst/>
            <a:gdLst/>
            <a:ahLst/>
            <a:cxnLst/>
            <a:rect l="l" t="t" r="r" b="b"/>
            <a:pathLst>
              <a:path w="2114182" h="4291608">
                <a:moveTo>
                  <a:pt x="0" y="0"/>
                </a:moveTo>
                <a:lnTo>
                  <a:pt x="2114181" y="0"/>
                </a:lnTo>
                <a:lnTo>
                  <a:pt x="2114181" y="4291609"/>
                </a:lnTo>
                <a:lnTo>
                  <a:pt x="0" y="4291609"/>
                </a:lnTo>
                <a:lnTo>
                  <a:pt x="0" y="0"/>
                </a:lnTo>
                <a:close/>
              </a:path>
            </a:pathLst>
          </a:custGeom>
          <a:blipFill>
            <a:blip r:embed="rId2"/>
            <a:stretch>
              <a:fillRect/>
            </a:stretch>
          </a:blipFill>
        </p:spPr>
        <p:txBody>
          <a:bodyPr/>
          <a:lstStyle/>
          <a:p>
            <a:endParaRPr lang="en-US"/>
          </a:p>
        </p:txBody>
      </p:sp>
      <p:grpSp>
        <p:nvGrpSpPr>
          <p:cNvPr id="6" name="Group 6"/>
          <p:cNvGrpSpPr/>
          <p:nvPr/>
        </p:nvGrpSpPr>
        <p:grpSpPr>
          <a:xfrm rot="-4319721">
            <a:off x="11697485" y="6169918"/>
            <a:ext cx="13181030" cy="4290457"/>
            <a:chOff x="0" y="0"/>
            <a:chExt cx="3471547" cy="1129997"/>
          </a:xfrm>
        </p:grpSpPr>
        <p:sp>
          <p:nvSpPr>
            <p:cNvPr id="7" name="Freeform 7"/>
            <p:cNvSpPr/>
            <p:nvPr/>
          </p:nvSpPr>
          <p:spPr>
            <a:xfrm>
              <a:off x="0" y="0"/>
              <a:ext cx="3471547" cy="1129997"/>
            </a:xfrm>
            <a:custGeom>
              <a:avLst/>
              <a:gdLst/>
              <a:ahLst/>
              <a:cxnLst/>
              <a:rect l="l" t="t" r="r" b="b"/>
              <a:pathLst>
                <a:path w="3471547" h="1129997">
                  <a:moveTo>
                    <a:pt x="0" y="0"/>
                  </a:moveTo>
                  <a:lnTo>
                    <a:pt x="3471547" y="0"/>
                  </a:lnTo>
                  <a:lnTo>
                    <a:pt x="3471547" y="1129997"/>
                  </a:lnTo>
                  <a:lnTo>
                    <a:pt x="0" y="1129997"/>
                  </a:lnTo>
                  <a:close/>
                </a:path>
              </a:pathLst>
            </a:custGeom>
            <a:solidFill>
              <a:srgbClr val="0B5298"/>
            </a:solidFill>
          </p:spPr>
          <p:txBody>
            <a:bodyPr/>
            <a:lstStyle/>
            <a:p>
              <a:endParaRPr lang="en-US"/>
            </a:p>
          </p:txBody>
        </p:sp>
        <p:sp>
          <p:nvSpPr>
            <p:cNvPr id="8" name="TextBox 8"/>
            <p:cNvSpPr txBox="1"/>
            <p:nvPr/>
          </p:nvSpPr>
          <p:spPr>
            <a:xfrm>
              <a:off x="0" y="-76200"/>
              <a:ext cx="3471547" cy="1206197"/>
            </a:xfrm>
            <a:prstGeom prst="rect">
              <a:avLst/>
            </a:prstGeom>
          </p:spPr>
          <p:txBody>
            <a:bodyPr lIns="50800" tIns="50800" rIns="50800" bIns="50800" rtlCol="0" anchor="ctr"/>
            <a:lstStyle/>
            <a:p>
              <a:pPr marL="0" lvl="0" indent="0" algn="ctr">
                <a:lnSpc>
                  <a:spcPts val="2659"/>
                </a:lnSpc>
              </a:pPr>
              <a:endParaRPr/>
            </a:p>
          </p:txBody>
        </p:sp>
      </p:grpSp>
      <p:sp>
        <p:nvSpPr>
          <p:cNvPr id="9" name="Freeform 9"/>
          <p:cNvSpPr/>
          <p:nvPr/>
        </p:nvSpPr>
        <p:spPr>
          <a:xfrm>
            <a:off x="-734405" y="-1009042"/>
            <a:ext cx="4436419" cy="4824276"/>
          </a:xfrm>
          <a:custGeom>
            <a:avLst/>
            <a:gdLst/>
            <a:ahLst/>
            <a:cxnLst/>
            <a:rect l="l" t="t" r="r" b="b"/>
            <a:pathLst>
              <a:path w="4436419" h="4824276">
                <a:moveTo>
                  <a:pt x="0" y="0"/>
                </a:moveTo>
                <a:lnTo>
                  <a:pt x="4436419" y="0"/>
                </a:lnTo>
                <a:lnTo>
                  <a:pt x="4436419" y="4824276"/>
                </a:lnTo>
                <a:lnTo>
                  <a:pt x="0" y="482427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0" name="Freeform 10"/>
          <p:cNvSpPr/>
          <p:nvPr/>
        </p:nvSpPr>
        <p:spPr>
          <a:xfrm flipH="1" flipV="1">
            <a:off x="14470870" y="6490580"/>
            <a:ext cx="4436419" cy="4824276"/>
          </a:xfrm>
          <a:custGeom>
            <a:avLst/>
            <a:gdLst/>
            <a:ahLst/>
            <a:cxnLst/>
            <a:rect l="l" t="t" r="r" b="b"/>
            <a:pathLst>
              <a:path w="4436419" h="4824276">
                <a:moveTo>
                  <a:pt x="4436419" y="4824276"/>
                </a:moveTo>
                <a:lnTo>
                  <a:pt x="0" y="4824276"/>
                </a:lnTo>
                <a:lnTo>
                  <a:pt x="0" y="0"/>
                </a:lnTo>
                <a:lnTo>
                  <a:pt x="4436419" y="0"/>
                </a:lnTo>
                <a:lnTo>
                  <a:pt x="4436419" y="4824276"/>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1" name="Freeform 11"/>
          <p:cNvSpPr/>
          <p:nvPr/>
        </p:nvSpPr>
        <p:spPr>
          <a:xfrm>
            <a:off x="-64837" y="8060016"/>
            <a:ext cx="2312531" cy="2312531"/>
          </a:xfrm>
          <a:custGeom>
            <a:avLst/>
            <a:gdLst/>
            <a:ahLst/>
            <a:cxnLst/>
            <a:rect l="l" t="t" r="r" b="b"/>
            <a:pathLst>
              <a:path w="2312531" h="2312531">
                <a:moveTo>
                  <a:pt x="0" y="0"/>
                </a:moveTo>
                <a:lnTo>
                  <a:pt x="2312531" y="0"/>
                </a:lnTo>
                <a:lnTo>
                  <a:pt x="2312531" y="2312531"/>
                </a:lnTo>
                <a:lnTo>
                  <a:pt x="0" y="231253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2" name="Freeform 12"/>
          <p:cNvSpPr/>
          <p:nvPr/>
        </p:nvSpPr>
        <p:spPr>
          <a:xfrm flipH="1" flipV="1">
            <a:off x="16546204" y="-618883"/>
            <a:ext cx="2114182" cy="4291608"/>
          </a:xfrm>
          <a:custGeom>
            <a:avLst/>
            <a:gdLst/>
            <a:ahLst/>
            <a:cxnLst/>
            <a:rect l="l" t="t" r="r" b="b"/>
            <a:pathLst>
              <a:path w="2114182" h="4291608">
                <a:moveTo>
                  <a:pt x="2114182" y="4291608"/>
                </a:moveTo>
                <a:lnTo>
                  <a:pt x="0" y="4291608"/>
                </a:lnTo>
                <a:lnTo>
                  <a:pt x="0" y="0"/>
                </a:lnTo>
                <a:lnTo>
                  <a:pt x="2114182" y="0"/>
                </a:lnTo>
                <a:lnTo>
                  <a:pt x="2114182" y="4291608"/>
                </a:lnTo>
                <a:close/>
              </a:path>
            </a:pathLst>
          </a:custGeom>
          <a:blipFill>
            <a:blip r:embed="rId2"/>
            <a:stretch>
              <a:fillRect/>
            </a:stretch>
          </a:blipFill>
        </p:spPr>
        <p:txBody>
          <a:bodyPr/>
          <a:lstStyle/>
          <a:p>
            <a:endParaRPr lang="en-US"/>
          </a:p>
        </p:txBody>
      </p:sp>
      <p:sp>
        <p:nvSpPr>
          <p:cNvPr id="13" name="Freeform 13"/>
          <p:cNvSpPr/>
          <p:nvPr/>
        </p:nvSpPr>
        <p:spPr>
          <a:xfrm flipH="1" flipV="1">
            <a:off x="15975469" y="-127566"/>
            <a:ext cx="2312531" cy="2312531"/>
          </a:xfrm>
          <a:custGeom>
            <a:avLst/>
            <a:gdLst/>
            <a:ahLst/>
            <a:cxnLst/>
            <a:rect l="l" t="t" r="r" b="b"/>
            <a:pathLst>
              <a:path w="2312531" h="2312531">
                <a:moveTo>
                  <a:pt x="2312531" y="2312532"/>
                </a:moveTo>
                <a:lnTo>
                  <a:pt x="0" y="2312532"/>
                </a:lnTo>
                <a:lnTo>
                  <a:pt x="0" y="0"/>
                </a:lnTo>
                <a:lnTo>
                  <a:pt x="2312531" y="0"/>
                </a:lnTo>
                <a:lnTo>
                  <a:pt x="2312531" y="2312532"/>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4" name="TextBox 14"/>
          <p:cNvSpPr txBox="1"/>
          <p:nvPr/>
        </p:nvSpPr>
        <p:spPr>
          <a:xfrm>
            <a:off x="3461492" y="6155440"/>
            <a:ext cx="11365016" cy="1711246"/>
          </a:xfrm>
          <a:prstGeom prst="rect">
            <a:avLst/>
          </a:prstGeom>
        </p:spPr>
        <p:txBody>
          <a:bodyPr lIns="0" tIns="0" rIns="0" bIns="0" rtlCol="0" anchor="t">
            <a:spAutoFit/>
          </a:bodyPr>
          <a:lstStyle/>
          <a:p>
            <a:pPr marL="0" lvl="0" indent="0" algn="just">
              <a:lnSpc>
                <a:spcPts val="3329"/>
              </a:lnSpc>
            </a:pPr>
            <a:r>
              <a:rPr lang="en-US" sz="2378">
                <a:solidFill>
                  <a:srgbClr val="454B5D"/>
                </a:solidFill>
                <a:latin typeface="ITC Avant Garde Gothic"/>
                <a:ea typeface="ITC Avant Garde Gothic"/>
                <a:cs typeface="ITC Avant Garde Gothic"/>
                <a:sym typeface="ITC Avant Garde Gothic"/>
              </a:rPr>
              <a:t>Digital agents are at the core of CyberShield, assisting the founder in performing various cybersecurity tasks efficiently. These intelligent agents work collaboratively to detect threats, identify vulnerabilities, and suggest appropriate responses to security challenges.</a:t>
            </a:r>
          </a:p>
        </p:txBody>
      </p:sp>
      <p:sp>
        <p:nvSpPr>
          <p:cNvPr id="15" name="TextBox 15"/>
          <p:cNvSpPr txBox="1"/>
          <p:nvPr/>
        </p:nvSpPr>
        <p:spPr>
          <a:xfrm>
            <a:off x="3468636" y="3983324"/>
            <a:ext cx="11357873" cy="1711246"/>
          </a:xfrm>
          <a:prstGeom prst="rect">
            <a:avLst/>
          </a:prstGeom>
        </p:spPr>
        <p:txBody>
          <a:bodyPr lIns="0" tIns="0" rIns="0" bIns="0" rtlCol="0" anchor="t">
            <a:spAutoFit/>
          </a:bodyPr>
          <a:lstStyle/>
          <a:p>
            <a:pPr marL="0" lvl="0" indent="0" algn="just">
              <a:lnSpc>
                <a:spcPts val="3329"/>
              </a:lnSpc>
            </a:pPr>
            <a:r>
              <a:rPr lang="en-US" sz="2378">
                <a:solidFill>
                  <a:srgbClr val="454B5D"/>
                </a:solidFill>
                <a:latin typeface="ITC Avant Garde Gothic"/>
                <a:ea typeface="ITC Avant Garde Gothic"/>
                <a:cs typeface="ITC Avant Garde Gothic"/>
                <a:sym typeface="ITC Avant Garde Gothic"/>
              </a:rPr>
              <a:t>CyberShield is a cybersecurity system developed using Object-Oriented Programming principles. The system is designed to simulate a one-person company that is fully managed by a single founder, streamlining operations and decision-making processes.</a:t>
            </a:r>
          </a:p>
        </p:txBody>
      </p:sp>
      <p:sp>
        <p:nvSpPr>
          <p:cNvPr id="16" name="TextBox 16"/>
          <p:cNvSpPr txBox="1"/>
          <p:nvPr/>
        </p:nvSpPr>
        <p:spPr>
          <a:xfrm>
            <a:off x="4077268" y="1965066"/>
            <a:ext cx="10133464" cy="1072862"/>
          </a:xfrm>
          <a:prstGeom prst="rect">
            <a:avLst/>
          </a:prstGeom>
        </p:spPr>
        <p:txBody>
          <a:bodyPr lIns="0" tIns="0" rIns="0" bIns="0" rtlCol="0" anchor="t">
            <a:spAutoFit/>
          </a:bodyPr>
          <a:lstStyle/>
          <a:p>
            <a:pPr marL="0" lvl="0" indent="0" algn="ctr">
              <a:lnSpc>
                <a:spcPts val="7595"/>
              </a:lnSpc>
            </a:pPr>
            <a:r>
              <a:rPr lang="en-US" sz="9494" b="1">
                <a:solidFill>
                  <a:srgbClr val="454B5D"/>
                </a:solidFill>
                <a:latin typeface="League Spartan"/>
                <a:ea typeface="League Spartan"/>
                <a:cs typeface="League Spartan"/>
                <a:sym typeface="League Spartan"/>
              </a:rPr>
              <a:t>INTRODUCTION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4319721">
            <a:off x="-7033129" y="-1139345"/>
            <a:ext cx="13181030" cy="5047255"/>
            <a:chOff x="0" y="0"/>
            <a:chExt cx="3471547" cy="1329318"/>
          </a:xfrm>
        </p:grpSpPr>
        <p:sp>
          <p:nvSpPr>
            <p:cNvPr id="3" name="Freeform 3"/>
            <p:cNvSpPr/>
            <p:nvPr/>
          </p:nvSpPr>
          <p:spPr>
            <a:xfrm>
              <a:off x="0" y="0"/>
              <a:ext cx="3471547" cy="1329318"/>
            </a:xfrm>
            <a:custGeom>
              <a:avLst/>
              <a:gdLst/>
              <a:ahLst/>
              <a:cxnLst/>
              <a:rect l="l" t="t" r="r" b="b"/>
              <a:pathLst>
                <a:path w="3471547" h="1329318">
                  <a:moveTo>
                    <a:pt x="0" y="0"/>
                  </a:moveTo>
                  <a:lnTo>
                    <a:pt x="3471547" y="0"/>
                  </a:lnTo>
                  <a:lnTo>
                    <a:pt x="3471547" y="1329318"/>
                  </a:lnTo>
                  <a:lnTo>
                    <a:pt x="0" y="1329318"/>
                  </a:lnTo>
                  <a:close/>
                </a:path>
              </a:pathLst>
            </a:custGeom>
            <a:solidFill>
              <a:srgbClr val="0B5298"/>
            </a:solidFill>
          </p:spPr>
          <p:txBody>
            <a:bodyPr/>
            <a:lstStyle/>
            <a:p>
              <a:endParaRPr lang="en-US"/>
            </a:p>
          </p:txBody>
        </p:sp>
        <p:sp>
          <p:nvSpPr>
            <p:cNvPr id="4" name="TextBox 4"/>
            <p:cNvSpPr txBox="1"/>
            <p:nvPr/>
          </p:nvSpPr>
          <p:spPr>
            <a:xfrm>
              <a:off x="0" y="-76200"/>
              <a:ext cx="3471547" cy="1405518"/>
            </a:xfrm>
            <a:prstGeom prst="rect">
              <a:avLst/>
            </a:prstGeom>
          </p:spPr>
          <p:txBody>
            <a:bodyPr lIns="50800" tIns="50800" rIns="50800" bIns="50800" rtlCol="0" anchor="ctr"/>
            <a:lstStyle/>
            <a:p>
              <a:pPr marL="0" lvl="0" indent="0" algn="ctr">
                <a:lnSpc>
                  <a:spcPts val="2659"/>
                </a:lnSpc>
              </a:pPr>
              <a:endParaRPr/>
            </a:p>
          </p:txBody>
        </p:sp>
      </p:grpSp>
      <p:sp>
        <p:nvSpPr>
          <p:cNvPr id="5" name="Freeform 5"/>
          <p:cNvSpPr/>
          <p:nvPr/>
        </p:nvSpPr>
        <p:spPr>
          <a:xfrm>
            <a:off x="-442614" y="6286303"/>
            <a:ext cx="2114182" cy="4291608"/>
          </a:xfrm>
          <a:custGeom>
            <a:avLst/>
            <a:gdLst/>
            <a:ahLst/>
            <a:cxnLst/>
            <a:rect l="l" t="t" r="r" b="b"/>
            <a:pathLst>
              <a:path w="2114182" h="4291608">
                <a:moveTo>
                  <a:pt x="0" y="0"/>
                </a:moveTo>
                <a:lnTo>
                  <a:pt x="2114181" y="0"/>
                </a:lnTo>
                <a:lnTo>
                  <a:pt x="2114181" y="4291609"/>
                </a:lnTo>
                <a:lnTo>
                  <a:pt x="0" y="4291609"/>
                </a:lnTo>
                <a:lnTo>
                  <a:pt x="0" y="0"/>
                </a:lnTo>
                <a:close/>
              </a:path>
            </a:pathLst>
          </a:custGeom>
          <a:blipFill>
            <a:blip r:embed="rId2"/>
            <a:stretch>
              <a:fillRect/>
            </a:stretch>
          </a:blipFill>
        </p:spPr>
        <p:txBody>
          <a:bodyPr/>
          <a:lstStyle/>
          <a:p>
            <a:endParaRPr lang="en-US"/>
          </a:p>
        </p:txBody>
      </p:sp>
      <p:grpSp>
        <p:nvGrpSpPr>
          <p:cNvPr id="6" name="Group 6"/>
          <p:cNvGrpSpPr/>
          <p:nvPr/>
        </p:nvGrpSpPr>
        <p:grpSpPr>
          <a:xfrm rot="-4319721">
            <a:off x="11697485" y="6169918"/>
            <a:ext cx="13181030" cy="4290457"/>
            <a:chOff x="0" y="0"/>
            <a:chExt cx="3471547" cy="1129997"/>
          </a:xfrm>
        </p:grpSpPr>
        <p:sp>
          <p:nvSpPr>
            <p:cNvPr id="7" name="Freeform 7"/>
            <p:cNvSpPr/>
            <p:nvPr/>
          </p:nvSpPr>
          <p:spPr>
            <a:xfrm>
              <a:off x="0" y="0"/>
              <a:ext cx="3471547" cy="1129997"/>
            </a:xfrm>
            <a:custGeom>
              <a:avLst/>
              <a:gdLst/>
              <a:ahLst/>
              <a:cxnLst/>
              <a:rect l="l" t="t" r="r" b="b"/>
              <a:pathLst>
                <a:path w="3471547" h="1129997">
                  <a:moveTo>
                    <a:pt x="0" y="0"/>
                  </a:moveTo>
                  <a:lnTo>
                    <a:pt x="3471547" y="0"/>
                  </a:lnTo>
                  <a:lnTo>
                    <a:pt x="3471547" y="1129997"/>
                  </a:lnTo>
                  <a:lnTo>
                    <a:pt x="0" y="1129997"/>
                  </a:lnTo>
                  <a:close/>
                </a:path>
              </a:pathLst>
            </a:custGeom>
            <a:solidFill>
              <a:srgbClr val="0B5298"/>
            </a:solidFill>
          </p:spPr>
          <p:txBody>
            <a:bodyPr/>
            <a:lstStyle/>
            <a:p>
              <a:endParaRPr lang="en-US"/>
            </a:p>
          </p:txBody>
        </p:sp>
        <p:sp>
          <p:nvSpPr>
            <p:cNvPr id="8" name="TextBox 8"/>
            <p:cNvSpPr txBox="1"/>
            <p:nvPr/>
          </p:nvSpPr>
          <p:spPr>
            <a:xfrm>
              <a:off x="0" y="-76200"/>
              <a:ext cx="3471547" cy="1206197"/>
            </a:xfrm>
            <a:prstGeom prst="rect">
              <a:avLst/>
            </a:prstGeom>
          </p:spPr>
          <p:txBody>
            <a:bodyPr lIns="50800" tIns="50800" rIns="50800" bIns="50800" rtlCol="0" anchor="ctr"/>
            <a:lstStyle/>
            <a:p>
              <a:pPr marL="0" lvl="0" indent="0" algn="ctr">
                <a:lnSpc>
                  <a:spcPts val="2659"/>
                </a:lnSpc>
              </a:pPr>
              <a:endParaRPr/>
            </a:p>
          </p:txBody>
        </p:sp>
      </p:grpSp>
      <p:sp>
        <p:nvSpPr>
          <p:cNvPr id="9" name="Freeform 9"/>
          <p:cNvSpPr/>
          <p:nvPr/>
        </p:nvSpPr>
        <p:spPr>
          <a:xfrm>
            <a:off x="-734405" y="-1009042"/>
            <a:ext cx="4436419" cy="4824276"/>
          </a:xfrm>
          <a:custGeom>
            <a:avLst/>
            <a:gdLst/>
            <a:ahLst/>
            <a:cxnLst/>
            <a:rect l="l" t="t" r="r" b="b"/>
            <a:pathLst>
              <a:path w="4436419" h="4824276">
                <a:moveTo>
                  <a:pt x="0" y="0"/>
                </a:moveTo>
                <a:lnTo>
                  <a:pt x="4436419" y="0"/>
                </a:lnTo>
                <a:lnTo>
                  <a:pt x="4436419" y="4824276"/>
                </a:lnTo>
                <a:lnTo>
                  <a:pt x="0" y="482427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0" name="Freeform 10"/>
          <p:cNvSpPr/>
          <p:nvPr/>
        </p:nvSpPr>
        <p:spPr>
          <a:xfrm flipH="1" flipV="1">
            <a:off x="14470870" y="6490580"/>
            <a:ext cx="4436419" cy="4824276"/>
          </a:xfrm>
          <a:custGeom>
            <a:avLst/>
            <a:gdLst/>
            <a:ahLst/>
            <a:cxnLst/>
            <a:rect l="l" t="t" r="r" b="b"/>
            <a:pathLst>
              <a:path w="4436419" h="4824276">
                <a:moveTo>
                  <a:pt x="4436419" y="4824276"/>
                </a:moveTo>
                <a:lnTo>
                  <a:pt x="0" y="4824276"/>
                </a:lnTo>
                <a:lnTo>
                  <a:pt x="0" y="0"/>
                </a:lnTo>
                <a:lnTo>
                  <a:pt x="4436419" y="0"/>
                </a:lnTo>
                <a:lnTo>
                  <a:pt x="4436419" y="4824276"/>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1" name="Freeform 11"/>
          <p:cNvSpPr/>
          <p:nvPr/>
        </p:nvSpPr>
        <p:spPr>
          <a:xfrm>
            <a:off x="-64837" y="8060016"/>
            <a:ext cx="2312531" cy="2312531"/>
          </a:xfrm>
          <a:custGeom>
            <a:avLst/>
            <a:gdLst/>
            <a:ahLst/>
            <a:cxnLst/>
            <a:rect l="l" t="t" r="r" b="b"/>
            <a:pathLst>
              <a:path w="2312531" h="2312531">
                <a:moveTo>
                  <a:pt x="0" y="0"/>
                </a:moveTo>
                <a:lnTo>
                  <a:pt x="2312531" y="0"/>
                </a:lnTo>
                <a:lnTo>
                  <a:pt x="2312531" y="2312531"/>
                </a:lnTo>
                <a:lnTo>
                  <a:pt x="0" y="231253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2" name="Freeform 12"/>
          <p:cNvSpPr/>
          <p:nvPr/>
        </p:nvSpPr>
        <p:spPr>
          <a:xfrm flipH="1" flipV="1">
            <a:off x="16546204" y="-618883"/>
            <a:ext cx="2114182" cy="4291608"/>
          </a:xfrm>
          <a:custGeom>
            <a:avLst/>
            <a:gdLst/>
            <a:ahLst/>
            <a:cxnLst/>
            <a:rect l="l" t="t" r="r" b="b"/>
            <a:pathLst>
              <a:path w="2114182" h="4291608">
                <a:moveTo>
                  <a:pt x="2114182" y="4291608"/>
                </a:moveTo>
                <a:lnTo>
                  <a:pt x="0" y="4291608"/>
                </a:lnTo>
                <a:lnTo>
                  <a:pt x="0" y="0"/>
                </a:lnTo>
                <a:lnTo>
                  <a:pt x="2114182" y="0"/>
                </a:lnTo>
                <a:lnTo>
                  <a:pt x="2114182" y="4291608"/>
                </a:lnTo>
                <a:close/>
              </a:path>
            </a:pathLst>
          </a:custGeom>
          <a:blipFill>
            <a:blip r:embed="rId2"/>
            <a:stretch>
              <a:fillRect/>
            </a:stretch>
          </a:blipFill>
        </p:spPr>
        <p:txBody>
          <a:bodyPr/>
          <a:lstStyle/>
          <a:p>
            <a:endParaRPr lang="en-US"/>
          </a:p>
        </p:txBody>
      </p:sp>
      <p:sp>
        <p:nvSpPr>
          <p:cNvPr id="13" name="Freeform 13"/>
          <p:cNvSpPr/>
          <p:nvPr/>
        </p:nvSpPr>
        <p:spPr>
          <a:xfrm flipH="1" flipV="1">
            <a:off x="15975469" y="-127566"/>
            <a:ext cx="2312531" cy="2312531"/>
          </a:xfrm>
          <a:custGeom>
            <a:avLst/>
            <a:gdLst/>
            <a:ahLst/>
            <a:cxnLst/>
            <a:rect l="l" t="t" r="r" b="b"/>
            <a:pathLst>
              <a:path w="2312531" h="2312531">
                <a:moveTo>
                  <a:pt x="2312531" y="2312532"/>
                </a:moveTo>
                <a:lnTo>
                  <a:pt x="0" y="2312532"/>
                </a:lnTo>
                <a:lnTo>
                  <a:pt x="0" y="0"/>
                </a:lnTo>
                <a:lnTo>
                  <a:pt x="2312531" y="0"/>
                </a:lnTo>
                <a:lnTo>
                  <a:pt x="2312531" y="2312532"/>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4" name="TextBox 14"/>
          <p:cNvSpPr txBox="1"/>
          <p:nvPr/>
        </p:nvSpPr>
        <p:spPr>
          <a:xfrm>
            <a:off x="4033977" y="4279950"/>
            <a:ext cx="10220045" cy="4153045"/>
          </a:xfrm>
          <a:prstGeom prst="rect">
            <a:avLst/>
          </a:prstGeom>
        </p:spPr>
        <p:txBody>
          <a:bodyPr lIns="0" tIns="0" rIns="0" bIns="0" rtlCol="0" anchor="t">
            <a:spAutoFit/>
          </a:bodyPr>
          <a:lstStyle/>
          <a:p>
            <a:pPr marL="0" lvl="0" indent="0" algn="ctr">
              <a:lnSpc>
                <a:spcPts val="3666"/>
              </a:lnSpc>
            </a:pPr>
            <a:r>
              <a:rPr lang="en-US" sz="2619" dirty="0">
                <a:solidFill>
                  <a:srgbClr val="454B5D"/>
                </a:solidFill>
                <a:latin typeface="ITC Avant Garde Gothic"/>
                <a:ea typeface="ITC Avant Garde Gothic"/>
                <a:cs typeface="ITC Avant Garde Gothic"/>
                <a:sym typeface="ITC Avant Garde Gothic"/>
              </a:rPr>
              <a:t>The </a:t>
            </a:r>
            <a:r>
              <a:rPr lang="en-US" sz="2619" dirty="0" err="1">
                <a:solidFill>
                  <a:srgbClr val="454B5D"/>
                </a:solidFill>
                <a:latin typeface="ITC Avant Garde Gothic"/>
                <a:ea typeface="ITC Avant Garde Gothic"/>
                <a:cs typeface="ITC Avant Garde Gothic"/>
                <a:sym typeface="ITC Avant Garde Gothic"/>
              </a:rPr>
              <a:t>CyberShield</a:t>
            </a:r>
            <a:r>
              <a:rPr lang="en-US" sz="2619" dirty="0">
                <a:solidFill>
                  <a:srgbClr val="454B5D"/>
                </a:solidFill>
                <a:latin typeface="ITC Avant Garde Gothic"/>
                <a:ea typeface="ITC Avant Garde Gothic"/>
                <a:cs typeface="ITC Avant Garde Gothic"/>
                <a:sym typeface="ITC Avant Garde Gothic"/>
              </a:rPr>
              <a:t> system operates through a streamlined workflow:</a:t>
            </a:r>
          </a:p>
          <a:p>
            <a:pPr marL="0" lvl="0" indent="0" algn="ctr">
              <a:lnSpc>
                <a:spcPts val="3666"/>
              </a:lnSpc>
            </a:pPr>
            <a:r>
              <a:rPr lang="en-US" sz="2619" dirty="0">
                <a:solidFill>
                  <a:srgbClr val="454B5D"/>
                </a:solidFill>
                <a:latin typeface="ITC Avant Garde Gothic"/>
                <a:ea typeface="ITC Avant Garde Gothic"/>
                <a:cs typeface="ITC Avant Garde Gothic"/>
                <a:sym typeface="ITC Avant Garde Gothic"/>
              </a:rPr>
              <a:t>• Founder creates cybersecurity tasks (e.g., system security check)</a:t>
            </a:r>
          </a:p>
          <a:p>
            <a:pPr marL="0" lvl="0" indent="0" algn="ctr">
              <a:lnSpc>
                <a:spcPts val="3666"/>
              </a:lnSpc>
            </a:pPr>
            <a:r>
              <a:rPr lang="en-US" sz="2619" dirty="0">
                <a:solidFill>
                  <a:srgbClr val="454B5D"/>
                </a:solidFill>
                <a:latin typeface="ITC Avant Garde Gothic"/>
                <a:ea typeface="ITC Avant Garde Gothic"/>
                <a:cs typeface="ITC Avant Garde Gothic"/>
                <a:sym typeface="ITC Avant Garde Gothic"/>
              </a:rPr>
              <a:t>• Tasks are delegated to multiple digital agents for analysis</a:t>
            </a:r>
          </a:p>
          <a:p>
            <a:pPr marL="0" lvl="0" indent="0" algn="ctr">
              <a:lnSpc>
                <a:spcPts val="3666"/>
              </a:lnSpc>
            </a:pPr>
            <a:r>
              <a:rPr lang="en-US" sz="2619" dirty="0">
                <a:solidFill>
                  <a:srgbClr val="454B5D"/>
                </a:solidFill>
                <a:latin typeface="ITC Avant Garde Gothic"/>
                <a:ea typeface="ITC Avant Garde Gothic"/>
                <a:cs typeface="ITC Avant Garde Gothic"/>
                <a:sym typeface="ITC Avant Garde Gothic"/>
              </a:rPr>
              <a:t>• Each agent analyzes the task according to its specialized role</a:t>
            </a:r>
          </a:p>
          <a:p>
            <a:pPr marL="0" lvl="0" indent="0" algn="ctr">
              <a:lnSpc>
                <a:spcPts val="3666"/>
              </a:lnSpc>
            </a:pPr>
            <a:r>
              <a:rPr lang="en-US" sz="2619" dirty="0">
                <a:solidFill>
                  <a:srgbClr val="454B5D"/>
                </a:solidFill>
                <a:latin typeface="ITC Avant Garde Gothic"/>
                <a:ea typeface="ITC Avant Garde Gothic"/>
                <a:cs typeface="ITC Avant Garde Gothic"/>
                <a:sym typeface="ITC Avant Garde Gothic"/>
              </a:rPr>
              <a:t>• Founder reviews all agent results and makes the final decision</a:t>
            </a:r>
          </a:p>
          <a:p>
            <a:pPr marL="0" lvl="0" indent="0" algn="ctr">
              <a:lnSpc>
                <a:spcPts val="3666"/>
              </a:lnSpc>
            </a:pPr>
            <a:r>
              <a:rPr lang="en-US" sz="2619" dirty="0">
                <a:solidFill>
                  <a:srgbClr val="454B5D"/>
                </a:solidFill>
                <a:latin typeface="ITC Avant Garde Gothic"/>
                <a:ea typeface="ITC Avant Garde Gothic"/>
                <a:cs typeface="ITC Avant Garde Gothic"/>
                <a:sym typeface="ITC Avant Garde Gothic"/>
              </a:rPr>
              <a:t>This approach ensures comprehensive security assessment through collaborative agent processing.</a:t>
            </a:r>
          </a:p>
        </p:txBody>
      </p:sp>
      <p:sp>
        <p:nvSpPr>
          <p:cNvPr id="15" name="TextBox 15"/>
          <p:cNvSpPr txBox="1"/>
          <p:nvPr/>
        </p:nvSpPr>
        <p:spPr>
          <a:xfrm>
            <a:off x="4062552" y="1895410"/>
            <a:ext cx="10191470" cy="905370"/>
          </a:xfrm>
          <a:prstGeom prst="rect">
            <a:avLst/>
          </a:prstGeom>
        </p:spPr>
        <p:txBody>
          <a:bodyPr lIns="0" tIns="0" rIns="0" bIns="0" rtlCol="0" anchor="t">
            <a:spAutoFit/>
          </a:bodyPr>
          <a:lstStyle/>
          <a:p>
            <a:pPr marL="0" lvl="0" indent="0" algn="ctr">
              <a:lnSpc>
                <a:spcPts val="6307"/>
              </a:lnSpc>
            </a:pPr>
            <a:r>
              <a:rPr lang="en-US" sz="7884" b="1">
                <a:solidFill>
                  <a:srgbClr val="454B5D"/>
                </a:solidFill>
                <a:latin typeface="League Spartan"/>
                <a:ea typeface="League Spartan"/>
                <a:cs typeface="League Spartan"/>
                <a:sym typeface="League Spartan"/>
              </a:rPr>
              <a:t>SYSTEM IDEA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4319721">
            <a:off x="-7033129" y="-1139345"/>
            <a:ext cx="13181030" cy="5047255"/>
            <a:chOff x="0" y="0"/>
            <a:chExt cx="3471547" cy="1329318"/>
          </a:xfrm>
        </p:grpSpPr>
        <p:sp>
          <p:nvSpPr>
            <p:cNvPr id="3" name="Freeform 3"/>
            <p:cNvSpPr/>
            <p:nvPr/>
          </p:nvSpPr>
          <p:spPr>
            <a:xfrm>
              <a:off x="0" y="0"/>
              <a:ext cx="3471547" cy="1329318"/>
            </a:xfrm>
            <a:custGeom>
              <a:avLst/>
              <a:gdLst/>
              <a:ahLst/>
              <a:cxnLst/>
              <a:rect l="l" t="t" r="r" b="b"/>
              <a:pathLst>
                <a:path w="3471547" h="1329318">
                  <a:moveTo>
                    <a:pt x="0" y="0"/>
                  </a:moveTo>
                  <a:lnTo>
                    <a:pt x="3471547" y="0"/>
                  </a:lnTo>
                  <a:lnTo>
                    <a:pt x="3471547" y="1329318"/>
                  </a:lnTo>
                  <a:lnTo>
                    <a:pt x="0" y="1329318"/>
                  </a:lnTo>
                  <a:close/>
                </a:path>
              </a:pathLst>
            </a:custGeom>
            <a:solidFill>
              <a:srgbClr val="0B5298"/>
            </a:solidFill>
          </p:spPr>
          <p:txBody>
            <a:bodyPr/>
            <a:lstStyle/>
            <a:p>
              <a:endParaRPr lang="en-US"/>
            </a:p>
          </p:txBody>
        </p:sp>
        <p:sp>
          <p:nvSpPr>
            <p:cNvPr id="4" name="TextBox 4"/>
            <p:cNvSpPr txBox="1"/>
            <p:nvPr/>
          </p:nvSpPr>
          <p:spPr>
            <a:xfrm>
              <a:off x="0" y="-76200"/>
              <a:ext cx="3471547" cy="1405518"/>
            </a:xfrm>
            <a:prstGeom prst="rect">
              <a:avLst/>
            </a:prstGeom>
          </p:spPr>
          <p:txBody>
            <a:bodyPr lIns="50800" tIns="50800" rIns="50800" bIns="50800" rtlCol="0" anchor="ctr"/>
            <a:lstStyle/>
            <a:p>
              <a:pPr marL="0" lvl="0" indent="0" algn="ctr">
                <a:lnSpc>
                  <a:spcPts val="2659"/>
                </a:lnSpc>
              </a:pPr>
              <a:endParaRPr/>
            </a:p>
          </p:txBody>
        </p:sp>
      </p:grpSp>
      <p:sp>
        <p:nvSpPr>
          <p:cNvPr id="5" name="Freeform 5"/>
          <p:cNvSpPr/>
          <p:nvPr/>
        </p:nvSpPr>
        <p:spPr>
          <a:xfrm>
            <a:off x="-442614" y="6286303"/>
            <a:ext cx="2114182" cy="4291608"/>
          </a:xfrm>
          <a:custGeom>
            <a:avLst/>
            <a:gdLst/>
            <a:ahLst/>
            <a:cxnLst/>
            <a:rect l="l" t="t" r="r" b="b"/>
            <a:pathLst>
              <a:path w="2114182" h="4291608">
                <a:moveTo>
                  <a:pt x="0" y="0"/>
                </a:moveTo>
                <a:lnTo>
                  <a:pt x="2114181" y="0"/>
                </a:lnTo>
                <a:lnTo>
                  <a:pt x="2114181" y="4291609"/>
                </a:lnTo>
                <a:lnTo>
                  <a:pt x="0" y="4291609"/>
                </a:lnTo>
                <a:lnTo>
                  <a:pt x="0" y="0"/>
                </a:lnTo>
                <a:close/>
              </a:path>
            </a:pathLst>
          </a:custGeom>
          <a:blipFill>
            <a:blip r:embed="rId2"/>
            <a:stretch>
              <a:fillRect/>
            </a:stretch>
          </a:blipFill>
        </p:spPr>
        <p:txBody>
          <a:bodyPr/>
          <a:lstStyle/>
          <a:p>
            <a:endParaRPr lang="en-US"/>
          </a:p>
        </p:txBody>
      </p:sp>
      <p:grpSp>
        <p:nvGrpSpPr>
          <p:cNvPr id="6" name="Group 6"/>
          <p:cNvGrpSpPr/>
          <p:nvPr/>
        </p:nvGrpSpPr>
        <p:grpSpPr>
          <a:xfrm rot="-4319721">
            <a:off x="11697485" y="6169918"/>
            <a:ext cx="13181030" cy="4290457"/>
            <a:chOff x="0" y="0"/>
            <a:chExt cx="3471547" cy="1129997"/>
          </a:xfrm>
        </p:grpSpPr>
        <p:sp>
          <p:nvSpPr>
            <p:cNvPr id="7" name="Freeform 7"/>
            <p:cNvSpPr/>
            <p:nvPr/>
          </p:nvSpPr>
          <p:spPr>
            <a:xfrm>
              <a:off x="0" y="0"/>
              <a:ext cx="3471547" cy="1129997"/>
            </a:xfrm>
            <a:custGeom>
              <a:avLst/>
              <a:gdLst/>
              <a:ahLst/>
              <a:cxnLst/>
              <a:rect l="l" t="t" r="r" b="b"/>
              <a:pathLst>
                <a:path w="3471547" h="1129997">
                  <a:moveTo>
                    <a:pt x="0" y="0"/>
                  </a:moveTo>
                  <a:lnTo>
                    <a:pt x="3471547" y="0"/>
                  </a:lnTo>
                  <a:lnTo>
                    <a:pt x="3471547" y="1129997"/>
                  </a:lnTo>
                  <a:lnTo>
                    <a:pt x="0" y="1129997"/>
                  </a:lnTo>
                  <a:close/>
                </a:path>
              </a:pathLst>
            </a:custGeom>
            <a:solidFill>
              <a:srgbClr val="0B5298"/>
            </a:solidFill>
          </p:spPr>
          <p:txBody>
            <a:bodyPr/>
            <a:lstStyle/>
            <a:p>
              <a:endParaRPr lang="en-US"/>
            </a:p>
          </p:txBody>
        </p:sp>
        <p:sp>
          <p:nvSpPr>
            <p:cNvPr id="8" name="TextBox 8"/>
            <p:cNvSpPr txBox="1"/>
            <p:nvPr/>
          </p:nvSpPr>
          <p:spPr>
            <a:xfrm>
              <a:off x="0" y="-76200"/>
              <a:ext cx="3471547" cy="1206197"/>
            </a:xfrm>
            <a:prstGeom prst="rect">
              <a:avLst/>
            </a:prstGeom>
          </p:spPr>
          <p:txBody>
            <a:bodyPr lIns="50800" tIns="50800" rIns="50800" bIns="50800" rtlCol="0" anchor="ctr"/>
            <a:lstStyle/>
            <a:p>
              <a:pPr marL="0" lvl="0" indent="0" algn="ctr">
                <a:lnSpc>
                  <a:spcPts val="2659"/>
                </a:lnSpc>
              </a:pPr>
              <a:endParaRPr/>
            </a:p>
          </p:txBody>
        </p:sp>
      </p:grpSp>
      <p:sp>
        <p:nvSpPr>
          <p:cNvPr id="9" name="Freeform 9"/>
          <p:cNvSpPr/>
          <p:nvPr/>
        </p:nvSpPr>
        <p:spPr>
          <a:xfrm>
            <a:off x="-734405" y="-1009042"/>
            <a:ext cx="4436419" cy="4824276"/>
          </a:xfrm>
          <a:custGeom>
            <a:avLst/>
            <a:gdLst/>
            <a:ahLst/>
            <a:cxnLst/>
            <a:rect l="l" t="t" r="r" b="b"/>
            <a:pathLst>
              <a:path w="4436419" h="4824276">
                <a:moveTo>
                  <a:pt x="0" y="0"/>
                </a:moveTo>
                <a:lnTo>
                  <a:pt x="4436419" y="0"/>
                </a:lnTo>
                <a:lnTo>
                  <a:pt x="4436419" y="4824276"/>
                </a:lnTo>
                <a:lnTo>
                  <a:pt x="0" y="482427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0" name="Freeform 10"/>
          <p:cNvSpPr/>
          <p:nvPr/>
        </p:nvSpPr>
        <p:spPr>
          <a:xfrm flipH="1" flipV="1">
            <a:off x="14470870" y="6490580"/>
            <a:ext cx="4436419" cy="4824276"/>
          </a:xfrm>
          <a:custGeom>
            <a:avLst/>
            <a:gdLst/>
            <a:ahLst/>
            <a:cxnLst/>
            <a:rect l="l" t="t" r="r" b="b"/>
            <a:pathLst>
              <a:path w="4436419" h="4824276">
                <a:moveTo>
                  <a:pt x="4436419" y="4824276"/>
                </a:moveTo>
                <a:lnTo>
                  <a:pt x="0" y="4824276"/>
                </a:lnTo>
                <a:lnTo>
                  <a:pt x="0" y="0"/>
                </a:lnTo>
                <a:lnTo>
                  <a:pt x="4436419" y="0"/>
                </a:lnTo>
                <a:lnTo>
                  <a:pt x="4436419" y="4824276"/>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1" name="Freeform 11"/>
          <p:cNvSpPr/>
          <p:nvPr/>
        </p:nvSpPr>
        <p:spPr>
          <a:xfrm>
            <a:off x="-64837" y="8060016"/>
            <a:ext cx="2312531" cy="2312531"/>
          </a:xfrm>
          <a:custGeom>
            <a:avLst/>
            <a:gdLst/>
            <a:ahLst/>
            <a:cxnLst/>
            <a:rect l="l" t="t" r="r" b="b"/>
            <a:pathLst>
              <a:path w="2312531" h="2312531">
                <a:moveTo>
                  <a:pt x="0" y="0"/>
                </a:moveTo>
                <a:lnTo>
                  <a:pt x="2312531" y="0"/>
                </a:lnTo>
                <a:lnTo>
                  <a:pt x="2312531" y="2312531"/>
                </a:lnTo>
                <a:lnTo>
                  <a:pt x="0" y="231253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2" name="Freeform 12"/>
          <p:cNvSpPr/>
          <p:nvPr/>
        </p:nvSpPr>
        <p:spPr>
          <a:xfrm flipH="1" flipV="1">
            <a:off x="16546204" y="-618883"/>
            <a:ext cx="2114182" cy="4291608"/>
          </a:xfrm>
          <a:custGeom>
            <a:avLst/>
            <a:gdLst/>
            <a:ahLst/>
            <a:cxnLst/>
            <a:rect l="l" t="t" r="r" b="b"/>
            <a:pathLst>
              <a:path w="2114182" h="4291608">
                <a:moveTo>
                  <a:pt x="2114182" y="4291608"/>
                </a:moveTo>
                <a:lnTo>
                  <a:pt x="0" y="4291608"/>
                </a:lnTo>
                <a:lnTo>
                  <a:pt x="0" y="0"/>
                </a:lnTo>
                <a:lnTo>
                  <a:pt x="2114182" y="0"/>
                </a:lnTo>
                <a:lnTo>
                  <a:pt x="2114182" y="4291608"/>
                </a:lnTo>
                <a:close/>
              </a:path>
            </a:pathLst>
          </a:custGeom>
          <a:blipFill>
            <a:blip r:embed="rId2"/>
            <a:stretch>
              <a:fillRect/>
            </a:stretch>
          </a:blipFill>
        </p:spPr>
        <p:txBody>
          <a:bodyPr/>
          <a:lstStyle/>
          <a:p>
            <a:endParaRPr lang="en-US"/>
          </a:p>
        </p:txBody>
      </p:sp>
      <p:sp>
        <p:nvSpPr>
          <p:cNvPr id="13" name="Freeform 13"/>
          <p:cNvSpPr/>
          <p:nvPr/>
        </p:nvSpPr>
        <p:spPr>
          <a:xfrm flipH="1" flipV="1">
            <a:off x="15975469" y="-127566"/>
            <a:ext cx="2312531" cy="2312531"/>
          </a:xfrm>
          <a:custGeom>
            <a:avLst/>
            <a:gdLst/>
            <a:ahLst/>
            <a:cxnLst/>
            <a:rect l="l" t="t" r="r" b="b"/>
            <a:pathLst>
              <a:path w="2312531" h="2312531">
                <a:moveTo>
                  <a:pt x="2312531" y="2312532"/>
                </a:moveTo>
                <a:lnTo>
                  <a:pt x="0" y="2312532"/>
                </a:lnTo>
                <a:lnTo>
                  <a:pt x="0" y="0"/>
                </a:lnTo>
                <a:lnTo>
                  <a:pt x="2312531" y="0"/>
                </a:lnTo>
                <a:lnTo>
                  <a:pt x="2312531" y="2312532"/>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18" name="Group 17">
            <a:extLst>
              <a:ext uri="{FF2B5EF4-FFF2-40B4-BE49-F238E27FC236}">
                <a16:creationId xmlns:a16="http://schemas.microsoft.com/office/drawing/2014/main" id="{62955288-743F-D8E5-6249-EFD94982E25B}"/>
              </a:ext>
            </a:extLst>
          </p:cNvPr>
          <p:cNvGrpSpPr/>
          <p:nvPr/>
        </p:nvGrpSpPr>
        <p:grpSpPr>
          <a:xfrm>
            <a:off x="3447589" y="4115718"/>
            <a:ext cx="8691937" cy="3909334"/>
            <a:chOff x="3447589" y="4115718"/>
            <a:chExt cx="8691937" cy="3909334"/>
          </a:xfrm>
        </p:grpSpPr>
        <p:sp>
          <p:nvSpPr>
            <p:cNvPr id="14" name="TextBox 14"/>
            <p:cNvSpPr txBox="1"/>
            <p:nvPr/>
          </p:nvSpPr>
          <p:spPr>
            <a:xfrm>
              <a:off x="3447589" y="4115718"/>
              <a:ext cx="8691937" cy="1085904"/>
            </a:xfrm>
            <a:prstGeom prst="rect">
              <a:avLst/>
            </a:prstGeom>
          </p:spPr>
          <p:txBody>
            <a:bodyPr lIns="0" tIns="0" rIns="0" bIns="0" rtlCol="0" anchor="t">
              <a:spAutoFit/>
            </a:bodyPr>
            <a:lstStyle/>
            <a:p>
              <a:pPr marL="0" lvl="0" indent="0" algn="just">
                <a:lnSpc>
                  <a:spcPts val="4197"/>
                </a:lnSpc>
              </a:pPr>
              <a:r>
                <a:rPr lang="en-US" sz="2997" dirty="0">
                  <a:solidFill>
                    <a:srgbClr val="454B5D"/>
                  </a:solidFill>
                  <a:latin typeface="ITC Avant Garde Gothic"/>
                  <a:ea typeface="ITC Avant Garde Gothic"/>
                  <a:cs typeface="ITC Avant Garde Gothic"/>
                  <a:sym typeface="ITC Avant Garde Gothic"/>
                </a:rPr>
                <a:t>Threat Agent:</a:t>
              </a:r>
            </a:p>
            <a:p>
              <a:pPr marL="0" lvl="0" indent="0" algn="just">
                <a:lnSpc>
                  <a:spcPts val="4197"/>
                </a:lnSpc>
              </a:pPr>
              <a:r>
                <a:rPr lang="en-US" sz="2997" dirty="0">
                  <a:solidFill>
                    <a:srgbClr val="454B5D"/>
                  </a:solidFill>
                  <a:latin typeface="ITC Avant Garde Gothic"/>
                  <a:ea typeface="ITC Avant Garde Gothic"/>
                  <a:cs typeface="ITC Avant Garde Gothic"/>
                  <a:sym typeface="ITC Avant Garde Gothic"/>
                </a:rPr>
                <a:t>Detects suspicious activities within the system</a:t>
              </a:r>
            </a:p>
          </p:txBody>
        </p:sp>
        <p:sp>
          <p:nvSpPr>
            <p:cNvPr id="15" name="TextBox 15"/>
            <p:cNvSpPr txBox="1"/>
            <p:nvPr/>
          </p:nvSpPr>
          <p:spPr>
            <a:xfrm>
              <a:off x="3447589" y="5527433"/>
              <a:ext cx="8691937" cy="1085904"/>
            </a:xfrm>
            <a:prstGeom prst="rect">
              <a:avLst/>
            </a:prstGeom>
          </p:spPr>
          <p:txBody>
            <a:bodyPr lIns="0" tIns="0" rIns="0" bIns="0" rtlCol="0" anchor="t">
              <a:spAutoFit/>
            </a:bodyPr>
            <a:lstStyle/>
            <a:p>
              <a:pPr marL="0" lvl="0" indent="0" algn="just">
                <a:lnSpc>
                  <a:spcPts val="4197"/>
                </a:lnSpc>
              </a:pPr>
              <a:r>
                <a:rPr lang="en-US" sz="2997" dirty="0">
                  <a:solidFill>
                    <a:srgbClr val="454B5D"/>
                  </a:solidFill>
                  <a:latin typeface="ITC Avant Garde Gothic"/>
                  <a:ea typeface="ITC Avant Garde Gothic"/>
                  <a:cs typeface="ITC Avant Garde Gothic"/>
                  <a:sym typeface="ITC Avant Garde Gothic"/>
                </a:rPr>
                <a:t>Vulnerability Agent:</a:t>
              </a:r>
            </a:p>
            <a:p>
              <a:pPr marL="0" lvl="0" indent="0" algn="just">
                <a:lnSpc>
                  <a:spcPts val="4197"/>
                </a:lnSpc>
              </a:pPr>
              <a:r>
                <a:rPr lang="en-US" sz="2997" dirty="0">
                  <a:solidFill>
                    <a:srgbClr val="454B5D"/>
                  </a:solidFill>
                  <a:latin typeface="ITC Avant Garde Gothic"/>
                  <a:ea typeface="ITC Avant Garde Gothic"/>
                  <a:cs typeface="ITC Avant Garde Gothic"/>
                  <a:sym typeface="ITC Avant Garde Gothic"/>
                </a:rPr>
                <a:t>Identifies system weaknesses and vulnerabilities</a:t>
              </a:r>
            </a:p>
          </p:txBody>
        </p:sp>
        <p:sp>
          <p:nvSpPr>
            <p:cNvPr id="16" name="TextBox 16"/>
            <p:cNvSpPr txBox="1"/>
            <p:nvPr/>
          </p:nvSpPr>
          <p:spPr>
            <a:xfrm>
              <a:off x="3447589" y="6939148"/>
              <a:ext cx="8691937" cy="1085904"/>
            </a:xfrm>
            <a:prstGeom prst="rect">
              <a:avLst/>
            </a:prstGeom>
          </p:spPr>
          <p:txBody>
            <a:bodyPr lIns="0" tIns="0" rIns="0" bIns="0" rtlCol="0" anchor="t">
              <a:spAutoFit/>
            </a:bodyPr>
            <a:lstStyle/>
            <a:p>
              <a:pPr marL="0" lvl="0" indent="0" algn="just">
                <a:lnSpc>
                  <a:spcPts val="4197"/>
                </a:lnSpc>
              </a:pPr>
              <a:r>
                <a:rPr lang="en-US" sz="2997" dirty="0">
                  <a:solidFill>
                    <a:srgbClr val="454B5D"/>
                  </a:solidFill>
                  <a:latin typeface="ITC Avant Garde Gothic"/>
                  <a:ea typeface="ITC Avant Garde Gothic"/>
                  <a:cs typeface="ITC Avant Garde Gothic"/>
                  <a:sym typeface="ITC Avant Garde Gothic"/>
                </a:rPr>
                <a:t>Response Agent:</a:t>
              </a:r>
            </a:p>
            <a:p>
              <a:pPr marL="0" lvl="0" indent="0" algn="just">
                <a:lnSpc>
                  <a:spcPts val="4197"/>
                </a:lnSpc>
              </a:pPr>
              <a:r>
                <a:rPr lang="en-US" sz="2997" dirty="0">
                  <a:solidFill>
                    <a:srgbClr val="454B5D"/>
                  </a:solidFill>
                  <a:latin typeface="ITC Avant Garde Gothic"/>
                  <a:ea typeface="ITC Avant Garde Gothic"/>
                  <a:cs typeface="ITC Avant Garde Gothic"/>
                  <a:sym typeface="ITC Avant Garde Gothic"/>
                </a:rPr>
                <a:t>Suggests solutions to improve overall security</a:t>
              </a:r>
            </a:p>
          </p:txBody>
        </p:sp>
      </p:grpSp>
      <p:sp>
        <p:nvSpPr>
          <p:cNvPr id="17" name="TextBox 17"/>
          <p:cNvSpPr txBox="1"/>
          <p:nvPr/>
        </p:nvSpPr>
        <p:spPr>
          <a:xfrm>
            <a:off x="4543620" y="2451666"/>
            <a:ext cx="9200760" cy="794704"/>
          </a:xfrm>
          <a:prstGeom prst="rect">
            <a:avLst/>
          </a:prstGeom>
        </p:spPr>
        <p:txBody>
          <a:bodyPr lIns="0" tIns="0" rIns="0" bIns="0" rtlCol="0" anchor="t">
            <a:spAutoFit/>
          </a:bodyPr>
          <a:lstStyle/>
          <a:p>
            <a:pPr marL="0" lvl="0" indent="0" algn="ctr">
              <a:lnSpc>
                <a:spcPts val="5615"/>
              </a:lnSpc>
            </a:pPr>
            <a:r>
              <a:rPr lang="en-US" sz="7018" b="1">
                <a:solidFill>
                  <a:srgbClr val="454B5D"/>
                </a:solidFill>
                <a:latin typeface="League Spartan"/>
                <a:ea typeface="League Spartan"/>
                <a:cs typeface="League Spartan"/>
                <a:sym typeface="League Spartan"/>
              </a:rPr>
              <a:t>AGENTS OVERVIEW</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4319721">
            <a:off x="-7033129" y="-1139345"/>
            <a:ext cx="13181030" cy="5047255"/>
            <a:chOff x="0" y="0"/>
            <a:chExt cx="3471547" cy="1329318"/>
          </a:xfrm>
        </p:grpSpPr>
        <p:sp>
          <p:nvSpPr>
            <p:cNvPr id="3" name="Freeform 3"/>
            <p:cNvSpPr/>
            <p:nvPr/>
          </p:nvSpPr>
          <p:spPr>
            <a:xfrm>
              <a:off x="0" y="0"/>
              <a:ext cx="3471547" cy="1329318"/>
            </a:xfrm>
            <a:custGeom>
              <a:avLst/>
              <a:gdLst/>
              <a:ahLst/>
              <a:cxnLst/>
              <a:rect l="l" t="t" r="r" b="b"/>
              <a:pathLst>
                <a:path w="3471547" h="1329318">
                  <a:moveTo>
                    <a:pt x="0" y="0"/>
                  </a:moveTo>
                  <a:lnTo>
                    <a:pt x="3471547" y="0"/>
                  </a:lnTo>
                  <a:lnTo>
                    <a:pt x="3471547" y="1329318"/>
                  </a:lnTo>
                  <a:lnTo>
                    <a:pt x="0" y="1329318"/>
                  </a:lnTo>
                  <a:close/>
                </a:path>
              </a:pathLst>
            </a:custGeom>
            <a:solidFill>
              <a:srgbClr val="0B5298"/>
            </a:solidFill>
          </p:spPr>
          <p:txBody>
            <a:bodyPr/>
            <a:lstStyle/>
            <a:p>
              <a:endParaRPr lang="en-US" dirty="0"/>
            </a:p>
          </p:txBody>
        </p:sp>
        <p:sp>
          <p:nvSpPr>
            <p:cNvPr id="4" name="TextBox 4"/>
            <p:cNvSpPr txBox="1"/>
            <p:nvPr/>
          </p:nvSpPr>
          <p:spPr>
            <a:xfrm>
              <a:off x="0" y="-76200"/>
              <a:ext cx="3471547" cy="1405518"/>
            </a:xfrm>
            <a:prstGeom prst="rect">
              <a:avLst/>
            </a:prstGeom>
          </p:spPr>
          <p:txBody>
            <a:bodyPr lIns="50800" tIns="50800" rIns="50800" bIns="50800" rtlCol="0" anchor="ctr"/>
            <a:lstStyle/>
            <a:p>
              <a:pPr marL="0" lvl="0" indent="0" algn="ctr">
                <a:lnSpc>
                  <a:spcPts val="2659"/>
                </a:lnSpc>
              </a:pPr>
              <a:endParaRPr/>
            </a:p>
          </p:txBody>
        </p:sp>
      </p:grpSp>
      <p:sp>
        <p:nvSpPr>
          <p:cNvPr id="5" name="Freeform 5"/>
          <p:cNvSpPr/>
          <p:nvPr/>
        </p:nvSpPr>
        <p:spPr>
          <a:xfrm>
            <a:off x="-442614" y="6286303"/>
            <a:ext cx="2114182" cy="4291608"/>
          </a:xfrm>
          <a:custGeom>
            <a:avLst/>
            <a:gdLst/>
            <a:ahLst/>
            <a:cxnLst/>
            <a:rect l="l" t="t" r="r" b="b"/>
            <a:pathLst>
              <a:path w="2114182" h="4291608">
                <a:moveTo>
                  <a:pt x="0" y="0"/>
                </a:moveTo>
                <a:lnTo>
                  <a:pt x="2114181" y="0"/>
                </a:lnTo>
                <a:lnTo>
                  <a:pt x="2114181" y="4291609"/>
                </a:lnTo>
                <a:lnTo>
                  <a:pt x="0" y="4291609"/>
                </a:lnTo>
                <a:lnTo>
                  <a:pt x="0" y="0"/>
                </a:lnTo>
                <a:close/>
              </a:path>
            </a:pathLst>
          </a:custGeom>
          <a:blipFill>
            <a:blip r:embed="rId2"/>
            <a:stretch>
              <a:fillRect/>
            </a:stretch>
          </a:blipFill>
        </p:spPr>
        <p:txBody>
          <a:bodyPr/>
          <a:lstStyle/>
          <a:p>
            <a:endParaRPr lang="en-US"/>
          </a:p>
        </p:txBody>
      </p:sp>
      <p:grpSp>
        <p:nvGrpSpPr>
          <p:cNvPr id="6" name="Group 6"/>
          <p:cNvGrpSpPr/>
          <p:nvPr/>
        </p:nvGrpSpPr>
        <p:grpSpPr>
          <a:xfrm rot="-4319721">
            <a:off x="11697485" y="6169918"/>
            <a:ext cx="13181030" cy="4290457"/>
            <a:chOff x="0" y="0"/>
            <a:chExt cx="3471547" cy="1129997"/>
          </a:xfrm>
        </p:grpSpPr>
        <p:sp>
          <p:nvSpPr>
            <p:cNvPr id="7" name="Freeform 7"/>
            <p:cNvSpPr/>
            <p:nvPr/>
          </p:nvSpPr>
          <p:spPr>
            <a:xfrm>
              <a:off x="0" y="0"/>
              <a:ext cx="3471547" cy="1129997"/>
            </a:xfrm>
            <a:custGeom>
              <a:avLst/>
              <a:gdLst/>
              <a:ahLst/>
              <a:cxnLst/>
              <a:rect l="l" t="t" r="r" b="b"/>
              <a:pathLst>
                <a:path w="3471547" h="1129997">
                  <a:moveTo>
                    <a:pt x="0" y="0"/>
                  </a:moveTo>
                  <a:lnTo>
                    <a:pt x="3471547" y="0"/>
                  </a:lnTo>
                  <a:lnTo>
                    <a:pt x="3471547" y="1129997"/>
                  </a:lnTo>
                  <a:lnTo>
                    <a:pt x="0" y="1129997"/>
                  </a:lnTo>
                  <a:close/>
                </a:path>
              </a:pathLst>
            </a:custGeom>
            <a:solidFill>
              <a:srgbClr val="0B5298"/>
            </a:solidFill>
          </p:spPr>
          <p:txBody>
            <a:bodyPr/>
            <a:lstStyle/>
            <a:p>
              <a:endParaRPr lang="en-US"/>
            </a:p>
          </p:txBody>
        </p:sp>
        <p:sp>
          <p:nvSpPr>
            <p:cNvPr id="8" name="TextBox 8"/>
            <p:cNvSpPr txBox="1"/>
            <p:nvPr/>
          </p:nvSpPr>
          <p:spPr>
            <a:xfrm>
              <a:off x="0" y="-76200"/>
              <a:ext cx="3471547" cy="1206197"/>
            </a:xfrm>
            <a:prstGeom prst="rect">
              <a:avLst/>
            </a:prstGeom>
          </p:spPr>
          <p:txBody>
            <a:bodyPr lIns="50800" tIns="50800" rIns="50800" bIns="50800" rtlCol="0" anchor="ctr"/>
            <a:lstStyle/>
            <a:p>
              <a:pPr marL="0" lvl="0" indent="0" algn="ctr">
                <a:lnSpc>
                  <a:spcPts val="2659"/>
                </a:lnSpc>
              </a:pPr>
              <a:endParaRPr/>
            </a:p>
          </p:txBody>
        </p:sp>
      </p:grpSp>
      <p:sp>
        <p:nvSpPr>
          <p:cNvPr id="9" name="Freeform 9"/>
          <p:cNvSpPr/>
          <p:nvPr/>
        </p:nvSpPr>
        <p:spPr>
          <a:xfrm>
            <a:off x="-734405" y="-1009042"/>
            <a:ext cx="4436419" cy="4824276"/>
          </a:xfrm>
          <a:custGeom>
            <a:avLst/>
            <a:gdLst/>
            <a:ahLst/>
            <a:cxnLst/>
            <a:rect l="l" t="t" r="r" b="b"/>
            <a:pathLst>
              <a:path w="4436419" h="4824276">
                <a:moveTo>
                  <a:pt x="0" y="0"/>
                </a:moveTo>
                <a:lnTo>
                  <a:pt x="4436419" y="0"/>
                </a:lnTo>
                <a:lnTo>
                  <a:pt x="4436419" y="4824276"/>
                </a:lnTo>
                <a:lnTo>
                  <a:pt x="0" y="482427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0" name="Freeform 10"/>
          <p:cNvSpPr/>
          <p:nvPr/>
        </p:nvSpPr>
        <p:spPr>
          <a:xfrm flipH="1" flipV="1">
            <a:off x="14470870" y="6490580"/>
            <a:ext cx="4436419" cy="4824276"/>
          </a:xfrm>
          <a:custGeom>
            <a:avLst/>
            <a:gdLst/>
            <a:ahLst/>
            <a:cxnLst/>
            <a:rect l="l" t="t" r="r" b="b"/>
            <a:pathLst>
              <a:path w="4436419" h="4824276">
                <a:moveTo>
                  <a:pt x="4436419" y="4824276"/>
                </a:moveTo>
                <a:lnTo>
                  <a:pt x="0" y="4824276"/>
                </a:lnTo>
                <a:lnTo>
                  <a:pt x="0" y="0"/>
                </a:lnTo>
                <a:lnTo>
                  <a:pt x="4436419" y="0"/>
                </a:lnTo>
                <a:lnTo>
                  <a:pt x="4436419" y="4824276"/>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1" name="Freeform 11"/>
          <p:cNvSpPr/>
          <p:nvPr/>
        </p:nvSpPr>
        <p:spPr>
          <a:xfrm>
            <a:off x="-64837" y="8060016"/>
            <a:ext cx="2312531" cy="2312531"/>
          </a:xfrm>
          <a:custGeom>
            <a:avLst/>
            <a:gdLst/>
            <a:ahLst/>
            <a:cxnLst/>
            <a:rect l="l" t="t" r="r" b="b"/>
            <a:pathLst>
              <a:path w="2312531" h="2312531">
                <a:moveTo>
                  <a:pt x="0" y="0"/>
                </a:moveTo>
                <a:lnTo>
                  <a:pt x="2312531" y="0"/>
                </a:lnTo>
                <a:lnTo>
                  <a:pt x="2312531" y="2312531"/>
                </a:lnTo>
                <a:lnTo>
                  <a:pt x="0" y="231253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2" name="Freeform 12"/>
          <p:cNvSpPr/>
          <p:nvPr/>
        </p:nvSpPr>
        <p:spPr>
          <a:xfrm flipH="1" flipV="1">
            <a:off x="16546204" y="-618883"/>
            <a:ext cx="2114182" cy="4291608"/>
          </a:xfrm>
          <a:custGeom>
            <a:avLst/>
            <a:gdLst/>
            <a:ahLst/>
            <a:cxnLst/>
            <a:rect l="l" t="t" r="r" b="b"/>
            <a:pathLst>
              <a:path w="2114182" h="4291608">
                <a:moveTo>
                  <a:pt x="2114182" y="4291608"/>
                </a:moveTo>
                <a:lnTo>
                  <a:pt x="0" y="4291608"/>
                </a:lnTo>
                <a:lnTo>
                  <a:pt x="0" y="0"/>
                </a:lnTo>
                <a:lnTo>
                  <a:pt x="2114182" y="0"/>
                </a:lnTo>
                <a:lnTo>
                  <a:pt x="2114182" y="4291608"/>
                </a:lnTo>
                <a:close/>
              </a:path>
            </a:pathLst>
          </a:custGeom>
          <a:blipFill>
            <a:blip r:embed="rId2"/>
            <a:stretch>
              <a:fillRect/>
            </a:stretch>
          </a:blipFill>
        </p:spPr>
        <p:txBody>
          <a:bodyPr/>
          <a:lstStyle/>
          <a:p>
            <a:endParaRPr lang="en-US"/>
          </a:p>
        </p:txBody>
      </p:sp>
      <p:sp>
        <p:nvSpPr>
          <p:cNvPr id="13" name="Freeform 13"/>
          <p:cNvSpPr/>
          <p:nvPr/>
        </p:nvSpPr>
        <p:spPr>
          <a:xfrm flipH="1" flipV="1">
            <a:off x="15975469" y="-127566"/>
            <a:ext cx="2312531" cy="2312531"/>
          </a:xfrm>
          <a:custGeom>
            <a:avLst/>
            <a:gdLst/>
            <a:ahLst/>
            <a:cxnLst/>
            <a:rect l="l" t="t" r="r" b="b"/>
            <a:pathLst>
              <a:path w="2312531" h="2312531">
                <a:moveTo>
                  <a:pt x="2312531" y="2312532"/>
                </a:moveTo>
                <a:lnTo>
                  <a:pt x="0" y="2312532"/>
                </a:lnTo>
                <a:lnTo>
                  <a:pt x="0" y="0"/>
                </a:lnTo>
                <a:lnTo>
                  <a:pt x="2312531" y="0"/>
                </a:lnTo>
                <a:lnTo>
                  <a:pt x="2312531" y="2312532"/>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4" name="TextBox 14"/>
          <p:cNvSpPr txBox="1"/>
          <p:nvPr/>
        </p:nvSpPr>
        <p:spPr>
          <a:xfrm>
            <a:off x="3525100" y="5071247"/>
            <a:ext cx="10948045" cy="481029"/>
          </a:xfrm>
          <a:prstGeom prst="rect">
            <a:avLst/>
          </a:prstGeom>
        </p:spPr>
        <p:txBody>
          <a:bodyPr lIns="0" tIns="0" rIns="0" bIns="0" rtlCol="0" anchor="t">
            <a:spAutoFit/>
          </a:bodyPr>
          <a:lstStyle/>
          <a:p>
            <a:pPr lvl="0" algn="just">
              <a:lnSpc>
                <a:spcPts val="4197"/>
              </a:lnSpc>
            </a:pPr>
            <a:endParaRPr lang="en-US" sz="2312" dirty="0">
              <a:solidFill>
                <a:srgbClr val="454B5D"/>
              </a:solidFill>
              <a:latin typeface="ITC Avant Garde Gothic"/>
              <a:ea typeface="ITC Avant Garde Gothic"/>
              <a:cs typeface="ITC Avant Garde Gothic"/>
              <a:sym typeface="ITC Avant Garde Gothic"/>
            </a:endParaRPr>
          </a:p>
        </p:txBody>
      </p:sp>
      <p:sp>
        <p:nvSpPr>
          <p:cNvPr id="15" name="TextBox 15"/>
          <p:cNvSpPr txBox="1"/>
          <p:nvPr/>
        </p:nvSpPr>
        <p:spPr>
          <a:xfrm>
            <a:off x="3632762" y="3494667"/>
            <a:ext cx="11022474" cy="481029"/>
          </a:xfrm>
          <a:prstGeom prst="rect">
            <a:avLst/>
          </a:prstGeom>
        </p:spPr>
        <p:txBody>
          <a:bodyPr lIns="0" tIns="0" rIns="0" bIns="0" rtlCol="0" anchor="t">
            <a:spAutoFit/>
          </a:bodyPr>
          <a:lstStyle/>
          <a:p>
            <a:pPr lvl="0" algn="just">
              <a:lnSpc>
                <a:spcPts val="4197"/>
              </a:lnSpc>
            </a:pPr>
            <a:endParaRPr lang="en-US" sz="2312" dirty="0">
              <a:solidFill>
                <a:srgbClr val="454B5D"/>
              </a:solidFill>
              <a:latin typeface="ITC Avant Garde Gothic"/>
              <a:ea typeface="ITC Avant Garde Gothic"/>
              <a:cs typeface="ITC Avant Garde Gothic"/>
              <a:sym typeface="ITC Avant Garde Gothic"/>
            </a:endParaRPr>
          </a:p>
        </p:txBody>
      </p:sp>
      <p:sp>
        <p:nvSpPr>
          <p:cNvPr id="16" name="TextBox 16"/>
          <p:cNvSpPr txBox="1"/>
          <p:nvPr/>
        </p:nvSpPr>
        <p:spPr>
          <a:xfrm>
            <a:off x="4995148" y="1907916"/>
            <a:ext cx="8297704" cy="986760"/>
          </a:xfrm>
          <a:prstGeom prst="rect">
            <a:avLst/>
          </a:prstGeom>
        </p:spPr>
        <p:txBody>
          <a:bodyPr lIns="0" tIns="0" rIns="0" bIns="0" rtlCol="0" anchor="t">
            <a:spAutoFit/>
          </a:bodyPr>
          <a:lstStyle/>
          <a:p>
            <a:pPr marL="0" lvl="0" indent="0" algn="ctr">
              <a:lnSpc>
                <a:spcPts val="6839"/>
              </a:lnSpc>
            </a:pPr>
            <a:r>
              <a:rPr lang="en-US" sz="8549" b="1">
                <a:solidFill>
                  <a:srgbClr val="454B5D"/>
                </a:solidFill>
                <a:latin typeface="League Spartan"/>
                <a:ea typeface="League Spartan"/>
                <a:cs typeface="League Spartan"/>
                <a:sym typeface="League Spartan"/>
              </a:rPr>
              <a:t>UML DIAGRAM</a:t>
            </a:r>
          </a:p>
        </p:txBody>
      </p:sp>
      <p:grpSp>
        <p:nvGrpSpPr>
          <p:cNvPr id="17" name="Group 16">
            <a:extLst>
              <a:ext uri="{FF2B5EF4-FFF2-40B4-BE49-F238E27FC236}">
                <a16:creationId xmlns:a16="http://schemas.microsoft.com/office/drawing/2014/main" id="{98B62CC7-DF13-C444-CCC6-0FE8F59894AC}"/>
              </a:ext>
            </a:extLst>
          </p:cNvPr>
          <p:cNvGrpSpPr/>
          <p:nvPr/>
        </p:nvGrpSpPr>
        <p:grpSpPr>
          <a:xfrm>
            <a:off x="3512588" y="6647827"/>
            <a:ext cx="12580462" cy="2656446"/>
            <a:chOff x="3635935" y="3156751"/>
            <a:chExt cx="8700590" cy="4120386"/>
          </a:xfrm>
        </p:grpSpPr>
        <p:sp>
          <p:nvSpPr>
            <p:cNvPr id="18" name="TextBox 14">
              <a:extLst>
                <a:ext uri="{FF2B5EF4-FFF2-40B4-BE49-F238E27FC236}">
                  <a16:creationId xmlns:a16="http://schemas.microsoft.com/office/drawing/2014/main" id="{E30F2949-51E7-EE7E-608E-20027EED325C}"/>
                </a:ext>
              </a:extLst>
            </p:cNvPr>
            <p:cNvSpPr txBox="1"/>
            <p:nvPr/>
          </p:nvSpPr>
          <p:spPr>
            <a:xfrm>
              <a:off x="3644588" y="3156751"/>
              <a:ext cx="8691937" cy="781526"/>
            </a:xfrm>
            <a:prstGeom prst="rect">
              <a:avLst/>
            </a:prstGeom>
          </p:spPr>
          <p:txBody>
            <a:bodyPr lIns="0" tIns="0" rIns="0" bIns="0" rtlCol="0" anchor="t">
              <a:spAutoFit/>
            </a:bodyPr>
            <a:lstStyle/>
            <a:p>
              <a:pPr marL="0" lvl="0" indent="0" algn="just">
                <a:lnSpc>
                  <a:spcPts val="4197"/>
                </a:lnSpc>
              </a:pPr>
              <a:endParaRPr lang="en-US" sz="2997" dirty="0">
                <a:solidFill>
                  <a:srgbClr val="454B5D"/>
                </a:solidFill>
                <a:latin typeface="ITC Avant Garde Gothic"/>
                <a:ea typeface="ITC Avant Garde Gothic"/>
                <a:cs typeface="ITC Avant Garde Gothic"/>
                <a:sym typeface="ITC Avant Garde Gothic"/>
              </a:endParaRPr>
            </a:p>
          </p:txBody>
        </p:sp>
        <p:sp>
          <p:nvSpPr>
            <p:cNvPr id="19" name="TextBox 15">
              <a:extLst>
                <a:ext uri="{FF2B5EF4-FFF2-40B4-BE49-F238E27FC236}">
                  <a16:creationId xmlns:a16="http://schemas.microsoft.com/office/drawing/2014/main" id="{EAEDA299-E380-3B6A-B572-379E55CD62D8}"/>
                </a:ext>
              </a:extLst>
            </p:cNvPr>
            <p:cNvSpPr txBox="1"/>
            <p:nvPr/>
          </p:nvSpPr>
          <p:spPr>
            <a:xfrm>
              <a:off x="3644587" y="4912007"/>
              <a:ext cx="8691937" cy="781526"/>
            </a:xfrm>
            <a:prstGeom prst="rect">
              <a:avLst/>
            </a:prstGeom>
          </p:spPr>
          <p:txBody>
            <a:bodyPr lIns="0" tIns="0" rIns="0" bIns="0" rtlCol="0" anchor="t">
              <a:spAutoFit/>
            </a:bodyPr>
            <a:lstStyle/>
            <a:p>
              <a:pPr marL="0" lvl="0" indent="0" algn="just">
                <a:lnSpc>
                  <a:spcPts val="4197"/>
                </a:lnSpc>
              </a:pPr>
              <a:endParaRPr lang="en-US" sz="2997" dirty="0">
                <a:solidFill>
                  <a:srgbClr val="454B5D"/>
                </a:solidFill>
                <a:latin typeface="ITC Avant Garde Gothic"/>
                <a:ea typeface="ITC Avant Garde Gothic"/>
                <a:cs typeface="ITC Avant Garde Gothic"/>
                <a:sym typeface="ITC Avant Garde Gothic"/>
              </a:endParaRPr>
            </a:p>
          </p:txBody>
        </p:sp>
        <p:sp>
          <p:nvSpPr>
            <p:cNvPr id="20" name="TextBox 16">
              <a:extLst>
                <a:ext uri="{FF2B5EF4-FFF2-40B4-BE49-F238E27FC236}">
                  <a16:creationId xmlns:a16="http://schemas.microsoft.com/office/drawing/2014/main" id="{0C56F2A6-FFC7-E900-413A-CCC80071103F}"/>
                </a:ext>
              </a:extLst>
            </p:cNvPr>
            <p:cNvSpPr txBox="1"/>
            <p:nvPr/>
          </p:nvSpPr>
          <p:spPr>
            <a:xfrm>
              <a:off x="3635935" y="6495611"/>
              <a:ext cx="8691937" cy="781526"/>
            </a:xfrm>
            <a:prstGeom prst="rect">
              <a:avLst/>
            </a:prstGeom>
          </p:spPr>
          <p:txBody>
            <a:bodyPr lIns="0" tIns="0" rIns="0" bIns="0" rtlCol="0" anchor="t">
              <a:spAutoFit/>
            </a:bodyPr>
            <a:lstStyle/>
            <a:p>
              <a:pPr marL="0" lvl="0" indent="0" algn="just">
                <a:lnSpc>
                  <a:spcPts val="4197"/>
                </a:lnSpc>
              </a:pPr>
              <a:endParaRPr lang="en-US" sz="2997" dirty="0">
                <a:solidFill>
                  <a:srgbClr val="454B5D"/>
                </a:solidFill>
                <a:latin typeface="ITC Avant Garde Gothic"/>
                <a:ea typeface="ITC Avant Garde Gothic"/>
                <a:cs typeface="ITC Avant Garde Gothic"/>
                <a:sym typeface="ITC Avant Garde Gothic"/>
              </a:endParaRPr>
            </a:p>
          </p:txBody>
        </p:sp>
      </p:grpSp>
      <p:sp>
        <p:nvSpPr>
          <p:cNvPr id="22" name="TextBox 21">
            <a:extLst>
              <a:ext uri="{FF2B5EF4-FFF2-40B4-BE49-F238E27FC236}">
                <a16:creationId xmlns:a16="http://schemas.microsoft.com/office/drawing/2014/main" id="{3BF89678-46D8-2C1E-8CB5-644EF4B1761C}"/>
              </a:ext>
            </a:extLst>
          </p:cNvPr>
          <p:cNvSpPr txBox="1"/>
          <p:nvPr/>
        </p:nvSpPr>
        <p:spPr>
          <a:xfrm>
            <a:off x="2242302" y="3359835"/>
            <a:ext cx="14011389" cy="4247317"/>
          </a:xfrm>
          <a:prstGeom prst="rect">
            <a:avLst/>
          </a:prstGeom>
          <a:noFill/>
        </p:spPr>
        <p:txBody>
          <a:bodyPr wrap="square">
            <a:spAutoFit/>
          </a:bodyPr>
          <a:lstStyle/>
          <a:p>
            <a:r>
              <a:rPr lang="en-US" sz="3000" dirty="0">
                <a:latin typeface="ITC Avant Garde Gothic" panose="020B0604020202020204" charset="0"/>
              </a:rPr>
              <a:t>The UML diagram illustrates relationships among Founder, Task, and Agent classes. The Founder creates tasks and makes final decisions, while Tasks are processed sequentially through three specialized agents.</a:t>
            </a:r>
          </a:p>
          <a:p>
            <a:endParaRPr lang="en-US" sz="3000" dirty="0">
              <a:latin typeface="ITC Avant Garde Gothic" panose="020B0604020202020204" charset="0"/>
            </a:endParaRPr>
          </a:p>
          <a:p>
            <a:r>
              <a:rPr lang="en-US" sz="3000" dirty="0">
                <a:latin typeface="ITC Avant Garde Gothic" panose="020B0604020202020204" charset="0"/>
              </a:rPr>
              <a:t> Flow: Founder → </a:t>
            </a:r>
            <a:r>
              <a:rPr lang="en-US" sz="3000" dirty="0" err="1">
                <a:latin typeface="ITC Avant Garde Gothic" panose="020B0604020202020204" charset="0"/>
              </a:rPr>
              <a:t>Create_task</a:t>
            </a:r>
            <a:r>
              <a:rPr lang="en-US" sz="3000" dirty="0">
                <a:latin typeface="ITC Avant Garde Gothic" panose="020B0604020202020204" charset="0"/>
              </a:rPr>
              <a:t>() → Task → process(task) through </a:t>
            </a:r>
            <a:r>
              <a:rPr lang="en-US" sz="3000" dirty="0" err="1">
                <a:latin typeface="ITC Avant Garde Gothic" panose="020B0604020202020204" charset="0"/>
              </a:rPr>
              <a:t>ThreatAgent</a:t>
            </a:r>
            <a:r>
              <a:rPr lang="en-US" sz="3000" dirty="0">
                <a:latin typeface="ITC Avant Garde Gothic" panose="020B0604020202020204" charset="0"/>
              </a:rPr>
              <a:t>, </a:t>
            </a:r>
            <a:r>
              <a:rPr lang="en-US" sz="3000" dirty="0" err="1">
                <a:latin typeface="ITC Avant Garde Gothic" panose="020B0604020202020204" charset="0"/>
              </a:rPr>
              <a:t>VulnerabilityAgent</a:t>
            </a:r>
            <a:r>
              <a:rPr lang="en-US" sz="3000" dirty="0">
                <a:latin typeface="ITC Avant Garde Gothic" panose="020B0604020202020204" charset="0"/>
              </a:rPr>
              <a:t>, </a:t>
            </a:r>
            <a:r>
              <a:rPr lang="en-US" sz="3000" dirty="0" err="1">
                <a:latin typeface="ITC Avant Garde Gothic" panose="020B0604020202020204" charset="0"/>
              </a:rPr>
              <a:t>ResponseAgent</a:t>
            </a:r>
            <a:r>
              <a:rPr lang="en-US" sz="3000" dirty="0">
                <a:latin typeface="ITC Avant Garde Gothic" panose="020B0604020202020204" charset="0"/>
              </a:rPr>
              <a:t> → decision() → </a:t>
            </a:r>
            <a:r>
              <a:rPr lang="en-US" sz="3000" dirty="0" err="1">
                <a:latin typeface="ITC Avant Garde Gothic" panose="020B0604020202020204" charset="0"/>
              </a:rPr>
              <a:t>makeDecision</a:t>
            </a:r>
            <a:r>
              <a:rPr lang="en-US" sz="3000" dirty="0">
                <a:latin typeface="ITC Avant Garde Gothic" panose="020B0604020202020204" charset="0"/>
              </a:rPr>
              <a:t>() by Founder. </a:t>
            </a:r>
          </a:p>
          <a:p>
            <a:r>
              <a:rPr lang="en-US" sz="3000" dirty="0">
                <a:latin typeface="ITC Avant Garde Gothic" panose="020B0604020202020204" charset="0"/>
              </a:rPr>
              <a:t>This structure demonstrates clear separation of responsibilities. </a:t>
            </a:r>
          </a:p>
          <a:p>
            <a:endParaRPr lang="en-US" sz="3000" dirty="0">
              <a:latin typeface="ITC Avant Garde Gothic" panose="020B06040202020202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5">
            <a:extLst>
              <a:ext uri="{FF2B5EF4-FFF2-40B4-BE49-F238E27FC236}">
                <a16:creationId xmlns:a16="http://schemas.microsoft.com/office/drawing/2014/main" id="{328CAA5B-6C20-A469-75E5-E8A59303512B}"/>
              </a:ext>
            </a:extLst>
          </p:cNvPr>
          <p:cNvSpPr/>
          <p:nvPr/>
        </p:nvSpPr>
        <p:spPr>
          <a:xfrm>
            <a:off x="-442614" y="6286303"/>
            <a:ext cx="2114182" cy="4291608"/>
          </a:xfrm>
          <a:custGeom>
            <a:avLst/>
            <a:gdLst/>
            <a:ahLst/>
            <a:cxnLst/>
            <a:rect l="l" t="t" r="r" b="b"/>
            <a:pathLst>
              <a:path w="2114182" h="4291608">
                <a:moveTo>
                  <a:pt x="0" y="0"/>
                </a:moveTo>
                <a:lnTo>
                  <a:pt x="2114181" y="0"/>
                </a:lnTo>
                <a:lnTo>
                  <a:pt x="2114181" y="4291609"/>
                </a:lnTo>
                <a:lnTo>
                  <a:pt x="0" y="4291609"/>
                </a:lnTo>
                <a:lnTo>
                  <a:pt x="0" y="0"/>
                </a:lnTo>
                <a:close/>
              </a:path>
            </a:pathLst>
          </a:custGeom>
          <a:blipFill>
            <a:blip r:embed="rId2"/>
            <a:stretch>
              <a:fillRect/>
            </a:stretch>
          </a:blipFill>
        </p:spPr>
        <p:txBody>
          <a:bodyPr/>
          <a:lstStyle/>
          <a:p>
            <a:endParaRPr lang="en-US"/>
          </a:p>
        </p:txBody>
      </p:sp>
      <p:grpSp>
        <p:nvGrpSpPr>
          <p:cNvPr id="4" name="Group 6">
            <a:extLst>
              <a:ext uri="{FF2B5EF4-FFF2-40B4-BE49-F238E27FC236}">
                <a16:creationId xmlns:a16="http://schemas.microsoft.com/office/drawing/2014/main" id="{D5C92AD0-1F51-A46E-A582-5936E549D127}"/>
              </a:ext>
            </a:extLst>
          </p:cNvPr>
          <p:cNvGrpSpPr/>
          <p:nvPr/>
        </p:nvGrpSpPr>
        <p:grpSpPr>
          <a:xfrm rot="17280279">
            <a:off x="11697485" y="6169918"/>
            <a:ext cx="13181030" cy="4290457"/>
            <a:chOff x="0" y="0"/>
            <a:chExt cx="3471547" cy="1129997"/>
          </a:xfrm>
        </p:grpSpPr>
        <p:sp>
          <p:nvSpPr>
            <p:cNvPr id="13" name="Freeform 7">
              <a:extLst>
                <a:ext uri="{FF2B5EF4-FFF2-40B4-BE49-F238E27FC236}">
                  <a16:creationId xmlns:a16="http://schemas.microsoft.com/office/drawing/2014/main" id="{3DBBD7E7-3D31-F729-3E19-A76916AE927E}"/>
                </a:ext>
              </a:extLst>
            </p:cNvPr>
            <p:cNvSpPr/>
            <p:nvPr/>
          </p:nvSpPr>
          <p:spPr>
            <a:xfrm>
              <a:off x="0" y="0"/>
              <a:ext cx="3471547" cy="1129997"/>
            </a:xfrm>
            <a:custGeom>
              <a:avLst/>
              <a:gdLst/>
              <a:ahLst/>
              <a:cxnLst/>
              <a:rect l="l" t="t" r="r" b="b"/>
              <a:pathLst>
                <a:path w="3471547" h="1129997">
                  <a:moveTo>
                    <a:pt x="0" y="0"/>
                  </a:moveTo>
                  <a:lnTo>
                    <a:pt x="3471547" y="0"/>
                  </a:lnTo>
                  <a:lnTo>
                    <a:pt x="3471547" y="1129997"/>
                  </a:lnTo>
                  <a:lnTo>
                    <a:pt x="0" y="1129997"/>
                  </a:lnTo>
                  <a:close/>
                </a:path>
              </a:pathLst>
            </a:custGeom>
            <a:solidFill>
              <a:srgbClr val="0B5298"/>
            </a:solidFill>
          </p:spPr>
          <p:txBody>
            <a:bodyPr/>
            <a:lstStyle/>
            <a:p>
              <a:endParaRPr lang="en-US"/>
            </a:p>
          </p:txBody>
        </p:sp>
        <p:sp>
          <p:nvSpPr>
            <p:cNvPr id="14" name="TextBox 8">
              <a:extLst>
                <a:ext uri="{FF2B5EF4-FFF2-40B4-BE49-F238E27FC236}">
                  <a16:creationId xmlns:a16="http://schemas.microsoft.com/office/drawing/2014/main" id="{D58A0000-4DB2-7386-B854-F7770F8B0F92}"/>
                </a:ext>
              </a:extLst>
            </p:cNvPr>
            <p:cNvSpPr txBox="1"/>
            <p:nvPr/>
          </p:nvSpPr>
          <p:spPr>
            <a:xfrm>
              <a:off x="0" y="-76200"/>
              <a:ext cx="3471547" cy="1206197"/>
            </a:xfrm>
            <a:prstGeom prst="rect">
              <a:avLst/>
            </a:prstGeom>
          </p:spPr>
          <p:txBody>
            <a:bodyPr lIns="50800" tIns="50800" rIns="50800" bIns="50800" rtlCol="0" anchor="ctr"/>
            <a:lstStyle/>
            <a:p>
              <a:pPr marL="0" lvl="0" indent="0" algn="ctr">
                <a:lnSpc>
                  <a:spcPts val="2659"/>
                </a:lnSpc>
              </a:pPr>
              <a:endParaRPr/>
            </a:p>
          </p:txBody>
        </p:sp>
      </p:grpSp>
      <p:sp>
        <p:nvSpPr>
          <p:cNvPr id="6" name="Freeform 10">
            <a:extLst>
              <a:ext uri="{FF2B5EF4-FFF2-40B4-BE49-F238E27FC236}">
                <a16:creationId xmlns:a16="http://schemas.microsoft.com/office/drawing/2014/main" id="{2B7F3913-7A9A-0987-5231-552B694AF331}"/>
              </a:ext>
            </a:extLst>
          </p:cNvPr>
          <p:cNvSpPr/>
          <p:nvPr/>
        </p:nvSpPr>
        <p:spPr>
          <a:xfrm flipH="1" flipV="1">
            <a:off x="14470870" y="6490580"/>
            <a:ext cx="4436419" cy="4824276"/>
          </a:xfrm>
          <a:custGeom>
            <a:avLst/>
            <a:gdLst/>
            <a:ahLst/>
            <a:cxnLst/>
            <a:rect l="l" t="t" r="r" b="b"/>
            <a:pathLst>
              <a:path w="4436419" h="4824276">
                <a:moveTo>
                  <a:pt x="4436419" y="4824276"/>
                </a:moveTo>
                <a:lnTo>
                  <a:pt x="0" y="4824276"/>
                </a:lnTo>
                <a:lnTo>
                  <a:pt x="0" y="0"/>
                </a:lnTo>
                <a:lnTo>
                  <a:pt x="4436419" y="0"/>
                </a:lnTo>
                <a:lnTo>
                  <a:pt x="4436419" y="4824276"/>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Freeform 11">
            <a:extLst>
              <a:ext uri="{FF2B5EF4-FFF2-40B4-BE49-F238E27FC236}">
                <a16:creationId xmlns:a16="http://schemas.microsoft.com/office/drawing/2014/main" id="{8836E801-6BAE-60D5-1866-E427445158CD}"/>
              </a:ext>
            </a:extLst>
          </p:cNvPr>
          <p:cNvSpPr/>
          <p:nvPr/>
        </p:nvSpPr>
        <p:spPr>
          <a:xfrm>
            <a:off x="-64837" y="8060016"/>
            <a:ext cx="2312531" cy="2312531"/>
          </a:xfrm>
          <a:custGeom>
            <a:avLst/>
            <a:gdLst/>
            <a:ahLst/>
            <a:cxnLst/>
            <a:rect l="l" t="t" r="r" b="b"/>
            <a:pathLst>
              <a:path w="2312531" h="2312531">
                <a:moveTo>
                  <a:pt x="0" y="0"/>
                </a:moveTo>
                <a:lnTo>
                  <a:pt x="2312531" y="0"/>
                </a:lnTo>
                <a:lnTo>
                  <a:pt x="2312531" y="2312531"/>
                </a:lnTo>
                <a:lnTo>
                  <a:pt x="0" y="231253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8" name="Freeform 12">
            <a:extLst>
              <a:ext uri="{FF2B5EF4-FFF2-40B4-BE49-F238E27FC236}">
                <a16:creationId xmlns:a16="http://schemas.microsoft.com/office/drawing/2014/main" id="{316340AF-44C7-A44E-04E0-326AF9109DED}"/>
              </a:ext>
            </a:extLst>
          </p:cNvPr>
          <p:cNvSpPr/>
          <p:nvPr/>
        </p:nvSpPr>
        <p:spPr>
          <a:xfrm flipH="1" flipV="1">
            <a:off x="16546204" y="-618883"/>
            <a:ext cx="2114182" cy="4291608"/>
          </a:xfrm>
          <a:custGeom>
            <a:avLst/>
            <a:gdLst/>
            <a:ahLst/>
            <a:cxnLst/>
            <a:rect l="l" t="t" r="r" b="b"/>
            <a:pathLst>
              <a:path w="2114182" h="4291608">
                <a:moveTo>
                  <a:pt x="2114182" y="4291608"/>
                </a:moveTo>
                <a:lnTo>
                  <a:pt x="0" y="4291608"/>
                </a:lnTo>
                <a:lnTo>
                  <a:pt x="0" y="0"/>
                </a:lnTo>
                <a:lnTo>
                  <a:pt x="2114182" y="0"/>
                </a:lnTo>
                <a:lnTo>
                  <a:pt x="2114182" y="4291608"/>
                </a:lnTo>
                <a:close/>
              </a:path>
            </a:pathLst>
          </a:custGeom>
          <a:blipFill>
            <a:blip r:embed="rId2"/>
            <a:stretch>
              <a:fillRect/>
            </a:stretch>
          </a:blipFill>
        </p:spPr>
        <p:txBody>
          <a:bodyPr/>
          <a:lstStyle/>
          <a:p>
            <a:endParaRPr lang="en-US"/>
          </a:p>
        </p:txBody>
      </p:sp>
      <p:sp>
        <p:nvSpPr>
          <p:cNvPr id="9" name="Freeform 13">
            <a:extLst>
              <a:ext uri="{FF2B5EF4-FFF2-40B4-BE49-F238E27FC236}">
                <a16:creationId xmlns:a16="http://schemas.microsoft.com/office/drawing/2014/main" id="{0928C441-2F32-7075-2833-773A5294C4EE}"/>
              </a:ext>
            </a:extLst>
          </p:cNvPr>
          <p:cNvSpPr/>
          <p:nvPr/>
        </p:nvSpPr>
        <p:spPr>
          <a:xfrm flipH="1" flipV="1">
            <a:off x="15975469" y="-127566"/>
            <a:ext cx="2312531" cy="2312531"/>
          </a:xfrm>
          <a:custGeom>
            <a:avLst/>
            <a:gdLst/>
            <a:ahLst/>
            <a:cxnLst/>
            <a:rect l="l" t="t" r="r" b="b"/>
            <a:pathLst>
              <a:path w="2312531" h="2312531">
                <a:moveTo>
                  <a:pt x="2312531" y="2312532"/>
                </a:moveTo>
                <a:lnTo>
                  <a:pt x="0" y="2312532"/>
                </a:lnTo>
                <a:lnTo>
                  <a:pt x="0" y="0"/>
                </a:lnTo>
                <a:lnTo>
                  <a:pt x="2312531" y="0"/>
                </a:lnTo>
                <a:lnTo>
                  <a:pt x="2312531" y="2312532"/>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5" name="Freeform 3">
            <a:extLst>
              <a:ext uri="{FF2B5EF4-FFF2-40B4-BE49-F238E27FC236}">
                <a16:creationId xmlns:a16="http://schemas.microsoft.com/office/drawing/2014/main" id="{736DD2F8-8323-B41F-D58B-3146C31CB847}"/>
              </a:ext>
            </a:extLst>
          </p:cNvPr>
          <p:cNvSpPr/>
          <p:nvPr/>
        </p:nvSpPr>
        <p:spPr>
          <a:xfrm rot="17280279">
            <a:off x="-7033129" y="-1139345"/>
            <a:ext cx="13181030" cy="5047255"/>
          </a:xfrm>
          <a:custGeom>
            <a:avLst/>
            <a:gdLst/>
            <a:ahLst/>
            <a:cxnLst/>
            <a:rect l="l" t="t" r="r" b="b"/>
            <a:pathLst>
              <a:path w="3471547" h="1329318">
                <a:moveTo>
                  <a:pt x="0" y="0"/>
                </a:moveTo>
                <a:lnTo>
                  <a:pt x="3471547" y="0"/>
                </a:lnTo>
                <a:lnTo>
                  <a:pt x="3471547" y="1329318"/>
                </a:lnTo>
                <a:lnTo>
                  <a:pt x="0" y="1329318"/>
                </a:lnTo>
                <a:close/>
              </a:path>
            </a:pathLst>
          </a:custGeom>
          <a:solidFill>
            <a:srgbClr val="0B5298"/>
          </a:solidFill>
        </p:spPr>
        <p:txBody>
          <a:bodyPr/>
          <a:lstStyle/>
          <a:p>
            <a:endParaRPr lang="en-US" dirty="0"/>
          </a:p>
        </p:txBody>
      </p:sp>
      <p:sp>
        <p:nvSpPr>
          <p:cNvPr id="5" name="Freeform 9">
            <a:extLst>
              <a:ext uri="{FF2B5EF4-FFF2-40B4-BE49-F238E27FC236}">
                <a16:creationId xmlns:a16="http://schemas.microsoft.com/office/drawing/2014/main" id="{87A7F98A-1235-DAB2-61D1-3656C265387A}"/>
              </a:ext>
            </a:extLst>
          </p:cNvPr>
          <p:cNvSpPr/>
          <p:nvPr/>
        </p:nvSpPr>
        <p:spPr>
          <a:xfrm>
            <a:off x="-734405" y="-1009042"/>
            <a:ext cx="4436419" cy="4824276"/>
          </a:xfrm>
          <a:custGeom>
            <a:avLst/>
            <a:gdLst/>
            <a:ahLst/>
            <a:cxnLst/>
            <a:rect l="l" t="t" r="r" b="b"/>
            <a:pathLst>
              <a:path w="4436419" h="4824276">
                <a:moveTo>
                  <a:pt x="0" y="0"/>
                </a:moveTo>
                <a:lnTo>
                  <a:pt x="4436419" y="0"/>
                </a:lnTo>
                <a:lnTo>
                  <a:pt x="4436419" y="4824276"/>
                </a:lnTo>
                <a:lnTo>
                  <a:pt x="0" y="482427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pic>
        <p:nvPicPr>
          <p:cNvPr id="17" name="Picture 16">
            <a:extLst>
              <a:ext uri="{FF2B5EF4-FFF2-40B4-BE49-F238E27FC236}">
                <a16:creationId xmlns:a16="http://schemas.microsoft.com/office/drawing/2014/main" id="{9E87324F-DB71-2ADD-4ADA-FA408ACA9B06}"/>
              </a:ext>
            </a:extLst>
          </p:cNvPr>
          <p:cNvPicPr>
            <a:picLocks noChangeAspect="1"/>
          </p:cNvPicPr>
          <p:nvPr/>
        </p:nvPicPr>
        <p:blipFill>
          <a:blip r:embed="rId5"/>
          <a:srcRect l="18823" t="3333" r="19628" b="4074"/>
          <a:stretch>
            <a:fillRect/>
          </a:stretch>
        </p:blipFill>
        <p:spPr>
          <a:xfrm>
            <a:off x="5638800" y="266700"/>
            <a:ext cx="6858000" cy="9829800"/>
          </a:xfrm>
          <a:prstGeom prst="rect">
            <a:avLst/>
          </a:prstGeom>
        </p:spPr>
      </p:pic>
    </p:spTree>
    <p:extLst>
      <p:ext uri="{BB962C8B-B14F-4D97-AF65-F5344CB8AC3E}">
        <p14:creationId xmlns:p14="http://schemas.microsoft.com/office/powerpoint/2010/main" val="39254811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4319721">
            <a:off x="-7033129" y="-1139345"/>
            <a:ext cx="13181030" cy="5047255"/>
            <a:chOff x="0" y="0"/>
            <a:chExt cx="3471547" cy="1329318"/>
          </a:xfrm>
        </p:grpSpPr>
        <p:sp>
          <p:nvSpPr>
            <p:cNvPr id="3" name="Freeform 3"/>
            <p:cNvSpPr/>
            <p:nvPr/>
          </p:nvSpPr>
          <p:spPr>
            <a:xfrm>
              <a:off x="0" y="0"/>
              <a:ext cx="3471547" cy="1329318"/>
            </a:xfrm>
            <a:custGeom>
              <a:avLst/>
              <a:gdLst/>
              <a:ahLst/>
              <a:cxnLst/>
              <a:rect l="l" t="t" r="r" b="b"/>
              <a:pathLst>
                <a:path w="3471547" h="1329318">
                  <a:moveTo>
                    <a:pt x="0" y="0"/>
                  </a:moveTo>
                  <a:lnTo>
                    <a:pt x="3471547" y="0"/>
                  </a:lnTo>
                  <a:lnTo>
                    <a:pt x="3471547" y="1329318"/>
                  </a:lnTo>
                  <a:lnTo>
                    <a:pt x="0" y="1329318"/>
                  </a:lnTo>
                  <a:close/>
                </a:path>
              </a:pathLst>
            </a:custGeom>
            <a:solidFill>
              <a:srgbClr val="0B5298"/>
            </a:solidFill>
          </p:spPr>
          <p:txBody>
            <a:bodyPr/>
            <a:lstStyle/>
            <a:p>
              <a:endParaRPr lang="en-US"/>
            </a:p>
          </p:txBody>
        </p:sp>
        <p:sp>
          <p:nvSpPr>
            <p:cNvPr id="4" name="TextBox 4"/>
            <p:cNvSpPr txBox="1"/>
            <p:nvPr/>
          </p:nvSpPr>
          <p:spPr>
            <a:xfrm>
              <a:off x="0" y="-76200"/>
              <a:ext cx="3471547" cy="1405518"/>
            </a:xfrm>
            <a:prstGeom prst="rect">
              <a:avLst/>
            </a:prstGeom>
          </p:spPr>
          <p:txBody>
            <a:bodyPr lIns="50800" tIns="50800" rIns="50800" bIns="50800" rtlCol="0" anchor="ctr"/>
            <a:lstStyle/>
            <a:p>
              <a:pPr marL="0" lvl="0" indent="0" algn="ctr">
                <a:lnSpc>
                  <a:spcPts val="2659"/>
                </a:lnSpc>
              </a:pPr>
              <a:endParaRPr/>
            </a:p>
          </p:txBody>
        </p:sp>
      </p:grpSp>
      <p:sp>
        <p:nvSpPr>
          <p:cNvPr id="5" name="Freeform 5"/>
          <p:cNvSpPr/>
          <p:nvPr/>
        </p:nvSpPr>
        <p:spPr>
          <a:xfrm>
            <a:off x="-442614" y="6286303"/>
            <a:ext cx="2114182" cy="4291608"/>
          </a:xfrm>
          <a:custGeom>
            <a:avLst/>
            <a:gdLst/>
            <a:ahLst/>
            <a:cxnLst/>
            <a:rect l="l" t="t" r="r" b="b"/>
            <a:pathLst>
              <a:path w="2114182" h="4291608">
                <a:moveTo>
                  <a:pt x="0" y="0"/>
                </a:moveTo>
                <a:lnTo>
                  <a:pt x="2114181" y="0"/>
                </a:lnTo>
                <a:lnTo>
                  <a:pt x="2114181" y="4291609"/>
                </a:lnTo>
                <a:lnTo>
                  <a:pt x="0" y="4291609"/>
                </a:lnTo>
                <a:lnTo>
                  <a:pt x="0" y="0"/>
                </a:lnTo>
                <a:close/>
              </a:path>
            </a:pathLst>
          </a:custGeom>
          <a:blipFill>
            <a:blip r:embed="rId2"/>
            <a:stretch>
              <a:fillRect/>
            </a:stretch>
          </a:blipFill>
        </p:spPr>
        <p:txBody>
          <a:bodyPr/>
          <a:lstStyle/>
          <a:p>
            <a:endParaRPr lang="en-US"/>
          </a:p>
        </p:txBody>
      </p:sp>
      <p:grpSp>
        <p:nvGrpSpPr>
          <p:cNvPr id="6" name="Group 6"/>
          <p:cNvGrpSpPr/>
          <p:nvPr/>
        </p:nvGrpSpPr>
        <p:grpSpPr>
          <a:xfrm rot="-4319721">
            <a:off x="11697485" y="6169918"/>
            <a:ext cx="13181030" cy="4290457"/>
            <a:chOff x="0" y="0"/>
            <a:chExt cx="3471547" cy="1129997"/>
          </a:xfrm>
        </p:grpSpPr>
        <p:sp>
          <p:nvSpPr>
            <p:cNvPr id="7" name="Freeform 7"/>
            <p:cNvSpPr/>
            <p:nvPr/>
          </p:nvSpPr>
          <p:spPr>
            <a:xfrm>
              <a:off x="0" y="0"/>
              <a:ext cx="3471547" cy="1129997"/>
            </a:xfrm>
            <a:custGeom>
              <a:avLst/>
              <a:gdLst/>
              <a:ahLst/>
              <a:cxnLst/>
              <a:rect l="l" t="t" r="r" b="b"/>
              <a:pathLst>
                <a:path w="3471547" h="1129997">
                  <a:moveTo>
                    <a:pt x="0" y="0"/>
                  </a:moveTo>
                  <a:lnTo>
                    <a:pt x="3471547" y="0"/>
                  </a:lnTo>
                  <a:lnTo>
                    <a:pt x="3471547" y="1129997"/>
                  </a:lnTo>
                  <a:lnTo>
                    <a:pt x="0" y="1129997"/>
                  </a:lnTo>
                  <a:close/>
                </a:path>
              </a:pathLst>
            </a:custGeom>
            <a:solidFill>
              <a:srgbClr val="0B5298"/>
            </a:solidFill>
          </p:spPr>
          <p:txBody>
            <a:bodyPr/>
            <a:lstStyle/>
            <a:p>
              <a:endParaRPr lang="en-US"/>
            </a:p>
          </p:txBody>
        </p:sp>
        <p:sp>
          <p:nvSpPr>
            <p:cNvPr id="8" name="TextBox 8"/>
            <p:cNvSpPr txBox="1"/>
            <p:nvPr/>
          </p:nvSpPr>
          <p:spPr>
            <a:xfrm>
              <a:off x="0" y="-76200"/>
              <a:ext cx="3471547" cy="1206197"/>
            </a:xfrm>
            <a:prstGeom prst="rect">
              <a:avLst/>
            </a:prstGeom>
          </p:spPr>
          <p:txBody>
            <a:bodyPr lIns="50800" tIns="50800" rIns="50800" bIns="50800" rtlCol="0" anchor="ctr"/>
            <a:lstStyle/>
            <a:p>
              <a:pPr marL="0" lvl="0" indent="0" algn="ctr">
                <a:lnSpc>
                  <a:spcPts val="2659"/>
                </a:lnSpc>
              </a:pPr>
              <a:endParaRPr/>
            </a:p>
          </p:txBody>
        </p:sp>
      </p:grpSp>
      <p:sp>
        <p:nvSpPr>
          <p:cNvPr id="9" name="Freeform 9"/>
          <p:cNvSpPr/>
          <p:nvPr/>
        </p:nvSpPr>
        <p:spPr>
          <a:xfrm>
            <a:off x="-734405" y="-1009042"/>
            <a:ext cx="4436419" cy="4824276"/>
          </a:xfrm>
          <a:custGeom>
            <a:avLst/>
            <a:gdLst/>
            <a:ahLst/>
            <a:cxnLst/>
            <a:rect l="l" t="t" r="r" b="b"/>
            <a:pathLst>
              <a:path w="4436419" h="4824276">
                <a:moveTo>
                  <a:pt x="0" y="0"/>
                </a:moveTo>
                <a:lnTo>
                  <a:pt x="4436419" y="0"/>
                </a:lnTo>
                <a:lnTo>
                  <a:pt x="4436419" y="4824276"/>
                </a:lnTo>
                <a:lnTo>
                  <a:pt x="0" y="482427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0" name="Freeform 10"/>
          <p:cNvSpPr/>
          <p:nvPr/>
        </p:nvSpPr>
        <p:spPr>
          <a:xfrm flipH="1" flipV="1">
            <a:off x="14470870" y="6490580"/>
            <a:ext cx="4436419" cy="4824276"/>
          </a:xfrm>
          <a:custGeom>
            <a:avLst/>
            <a:gdLst/>
            <a:ahLst/>
            <a:cxnLst/>
            <a:rect l="l" t="t" r="r" b="b"/>
            <a:pathLst>
              <a:path w="4436419" h="4824276">
                <a:moveTo>
                  <a:pt x="4436419" y="4824276"/>
                </a:moveTo>
                <a:lnTo>
                  <a:pt x="0" y="4824276"/>
                </a:lnTo>
                <a:lnTo>
                  <a:pt x="0" y="0"/>
                </a:lnTo>
                <a:lnTo>
                  <a:pt x="4436419" y="0"/>
                </a:lnTo>
                <a:lnTo>
                  <a:pt x="4436419" y="4824276"/>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1" name="Freeform 11"/>
          <p:cNvSpPr/>
          <p:nvPr/>
        </p:nvSpPr>
        <p:spPr>
          <a:xfrm>
            <a:off x="-64837" y="8060016"/>
            <a:ext cx="2312531" cy="2312531"/>
          </a:xfrm>
          <a:custGeom>
            <a:avLst/>
            <a:gdLst/>
            <a:ahLst/>
            <a:cxnLst/>
            <a:rect l="l" t="t" r="r" b="b"/>
            <a:pathLst>
              <a:path w="2312531" h="2312531">
                <a:moveTo>
                  <a:pt x="0" y="0"/>
                </a:moveTo>
                <a:lnTo>
                  <a:pt x="2312531" y="0"/>
                </a:lnTo>
                <a:lnTo>
                  <a:pt x="2312531" y="2312531"/>
                </a:lnTo>
                <a:lnTo>
                  <a:pt x="0" y="231253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2" name="Freeform 12"/>
          <p:cNvSpPr/>
          <p:nvPr/>
        </p:nvSpPr>
        <p:spPr>
          <a:xfrm flipH="1" flipV="1">
            <a:off x="16546204" y="-618883"/>
            <a:ext cx="2114182" cy="4291608"/>
          </a:xfrm>
          <a:custGeom>
            <a:avLst/>
            <a:gdLst/>
            <a:ahLst/>
            <a:cxnLst/>
            <a:rect l="l" t="t" r="r" b="b"/>
            <a:pathLst>
              <a:path w="2114182" h="4291608">
                <a:moveTo>
                  <a:pt x="2114182" y="4291608"/>
                </a:moveTo>
                <a:lnTo>
                  <a:pt x="0" y="4291608"/>
                </a:lnTo>
                <a:lnTo>
                  <a:pt x="0" y="0"/>
                </a:lnTo>
                <a:lnTo>
                  <a:pt x="2114182" y="0"/>
                </a:lnTo>
                <a:lnTo>
                  <a:pt x="2114182" y="4291608"/>
                </a:lnTo>
                <a:close/>
              </a:path>
            </a:pathLst>
          </a:custGeom>
          <a:blipFill>
            <a:blip r:embed="rId2"/>
            <a:stretch>
              <a:fillRect/>
            </a:stretch>
          </a:blipFill>
        </p:spPr>
        <p:txBody>
          <a:bodyPr/>
          <a:lstStyle/>
          <a:p>
            <a:endParaRPr lang="en-US"/>
          </a:p>
        </p:txBody>
      </p:sp>
      <p:sp>
        <p:nvSpPr>
          <p:cNvPr id="13" name="Freeform 13"/>
          <p:cNvSpPr/>
          <p:nvPr/>
        </p:nvSpPr>
        <p:spPr>
          <a:xfrm flipH="1" flipV="1">
            <a:off x="15975469" y="-127566"/>
            <a:ext cx="2312531" cy="2312531"/>
          </a:xfrm>
          <a:custGeom>
            <a:avLst/>
            <a:gdLst/>
            <a:ahLst/>
            <a:cxnLst/>
            <a:rect l="l" t="t" r="r" b="b"/>
            <a:pathLst>
              <a:path w="2312531" h="2312531">
                <a:moveTo>
                  <a:pt x="2312531" y="2312532"/>
                </a:moveTo>
                <a:lnTo>
                  <a:pt x="0" y="2312532"/>
                </a:lnTo>
                <a:lnTo>
                  <a:pt x="0" y="0"/>
                </a:lnTo>
                <a:lnTo>
                  <a:pt x="2312531" y="0"/>
                </a:lnTo>
                <a:lnTo>
                  <a:pt x="2312531" y="2312532"/>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4" name="TextBox 14"/>
          <p:cNvSpPr txBox="1"/>
          <p:nvPr/>
        </p:nvSpPr>
        <p:spPr>
          <a:xfrm>
            <a:off x="10181500" y="5048250"/>
            <a:ext cx="5284865" cy="2968234"/>
          </a:xfrm>
          <a:prstGeom prst="rect">
            <a:avLst/>
          </a:prstGeom>
        </p:spPr>
        <p:txBody>
          <a:bodyPr lIns="0" tIns="0" rIns="0" bIns="0" rtlCol="0" anchor="t">
            <a:spAutoFit/>
          </a:bodyPr>
          <a:lstStyle/>
          <a:p>
            <a:pPr marL="0" lvl="0" indent="0" algn="just">
              <a:lnSpc>
                <a:spcPts val="3346"/>
              </a:lnSpc>
            </a:pPr>
            <a:r>
              <a:rPr lang="en-US" sz="2390">
                <a:solidFill>
                  <a:srgbClr val="454B5D"/>
                </a:solidFill>
                <a:latin typeface="ITC Avant Garde Gothic"/>
                <a:ea typeface="ITC Avant Garde Gothic"/>
                <a:cs typeface="ITC Avant Garde Gothic"/>
                <a:sym typeface="ITC Avant Garde Gothic"/>
              </a:rPr>
              <a:t>Each Agent class implements the process() method to analyze tasks, showcasing polymorphism. The Founder class uses decision() to finalize actions based on agent feedback, demonstrating inheritance and method overriding.</a:t>
            </a:r>
          </a:p>
        </p:txBody>
      </p:sp>
      <p:sp>
        <p:nvSpPr>
          <p:cNvPr id="15" name="TextBox 15"/>
          <p:cNvSpPr txBox="1"/>
          <p:nvPr/>
        </p:nvSpPr>
        <p:spPr>
          <a:xfrm>
            <a:off x="2821635" y="5048250"/>
            <a:ext cx="5284865" cy="2968234"/>
          </a:xfrm>
          <a:prstGeom prst="rect">
            <a:avLst/>
          </a:prstGeom>
        </p:spPr>
        <p:txBody>
          <a:bodyPr lIns="0" tIns="0" rIns="0" bIns="0" rtlCol="0" anchor="t">
            <a:spAutoFit/>
          </a:bodyPr>
          <a:lstStyle/>
          <a:p>
            <a:pPr marL="0" lvl="0" indent="0" algn="just">
              <a:lnSpc>
                <a:spcPts val="3346"/>
              </a:lnSpc>
            </a:pPr>
            <a:r>
              <a:rPr lang="en-US" sz="2390">
                <a:solidFill>
                  <a:srgbClr val="454B5D"/>
                </a:solidFill>
                <a:latin typeface="ITC Avant Garde Gothic"/>
                <a:ea typeface="ITC Avant Garde Gothic"/>
                <a:cs typeface="ITC Avant Garde Gothic"/>
                <a:sym typeface="ITC Avant Garde Gothic"/>
              </a:rPr>
              <a:t>The system consists of five core classes: Founder, Task, ThreatAgent, VulnerabilityAgent, and ResponseAgent. Each class encapsulates its own data and behavior, demonstrating OOP encapsulation principles.</a:t>
            </a:r>
          </a:p>
        </p:txBody>
      </p:sp>
      <p:sp>
        <p:nvSpPr>
          <p:cNvPr id="16" name="TextBox 16"/>
          <p:cNvSpPr txBox="1"/>
          <p:nvPr/>
        </p:nvSpPr>
        <p:spPr>
          <a:xfrm>
            <a:off x="2821635" y="4375577"/>
            <a:ext cx="3506810" cy="526909"/>
          </a:xfrm>
          <a:prstGeom prst="rect">
            <a:avLst/>
          </a:prstGeom>
        </p:spPr>
        <p:txBody>
          <a:bodyPr lIns="0" tIns="0" rIns="0" bIns="0" rtlCol="0" anchor="t">
            <a:spAutoFit/>
          </a:bodyPr>
          <a:lstStyle/>
          <a:p>
            <a:pPr marL="0" lvl="0" indent="0" algn="l">
              <a:lnSpc>
                <a:spcPts val="3197"/>
              </a:lnSpc>
            </a:pPr>
            <a:r>
              <a:rPr lang="en-US" sz="3997" b="1">
                <a:solidFill>
                  <a:srgbClr val="454B5D"/>
                </a:solidFill>
                <a:latin typeface="ITC Avant Garde Gothic Bold"/>
                <a:ea typeface="ITC Avant Garde Gothic Bold"/>
                <a:cs typeface="ITC Avant Garde Gothic Bold"/>
                <a:sym typeface="ITC Avant Garde Gothic Bold"/>
              </a:rPr>
              <a:t>Main Classes</a:t>
            </a:r>
          </a:p>
        </p:txBody>
      </p:sp>
      <p:sp>
        <p:nvSpPr>
          <p:cNvPr id="17" name="TextBox 17"/>
          <p:cNvSpPr txBox="1"/>
          <p:nvPr/>
        </p:nvSpPr>
        <p:spPr>
          <a:xfrm>
            <a:off x="10181500" y="4375577"/>
            <a:ext cx="3565061" cy="509769"/>
          </a:xfrm>
          <a:prstGeom prst="rect">
            <a:avLst/>
          </a:prstGeom>
        </p:spPr>
        <p:txBody>
          <a:bodyPr lIns="0" tIns="0" rIns="0" bIns="0" rtlCol="0" anchor="t">
            <a:spAutoFit/>
          </a:bodyPr>
          <a:lstStyle/>
          <a:p>
            <a:pPr marL="0" lvl="0" indent="0" algn="l">
              <a:lnSpc>
                <a:spcPts val="3077"/>
              </a:lnSpc>
            </a:pPr>
            <a:r>
              <a:rPr lang="en-US" sz="3847" b="1">
                <a:solidFill>
                  <a:srgbClr val="454B5D"/>
                </a:solidFill>
                <a:latin typeface="ITC Avant Garde Gothic Bold"/>
                <a:ea typeface="ITC Avant Garde Gothic Bold"/>
                <a:cs typeface="ITC Avant Garde Gothic Bold"/>
                <a:sym typeface="ITC Avant Garde Gothic Bold"/>
              </a:rPr>
              <a:t>Key Functions</a:t>
            </a:r>
          </a:p>
        </p:txBody>
      </p:sp>
      <p:sp>
        <p:nvSpPr>
          <p:cNvPr id="18" name="TextBox 18"/>
          <p:cNvSpPr txBox="1"/>
          <p:nvPr/>
        </p:nvSpPr>
        <p:spPr>
          <a:xfrm>
            <a:off x="4541439" y="1888866"/>
            <a:ext cx="9205122" cy="879611"/>
          </a:xfrm>
          <a:prstGeom prst="rect">
            <a:avLst/>
          </a:prstGeom>
        </p:spPr>
        <p:txBody>
          <a:bodyPr lIns="0" tIns="0" rIns="0" bIns="0" rtlCol="0" anchor="t">
            <a:spAutoFit/>
          </a:bodyPr>
          <a:lstStyle/>
          <a:p>
            <a:pPr marL="0" lvl="0" indent="0" algn="ctr">
              <a:lnSpc>
                <a:spcPts val="6202"/>
              </a:lnSpc>
            </a:pPr>
            <a:r>
              <a:rPr lang="en-US" sz="7752" b="1">
                <a:solidFill>
                  <a:srgbClr val="454B5D"/>
                </a:solidFill>
                <a:latin typeface="League Spartan"/>
                <a:ea typeface="League Spartan"/>
                <a:cs typeface="League Spartan"/>
                <a:sym typeface="League Spartan"/>
              </a:rPr>
              <a:t>CODE STRUCTURE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F798F0-9632-1AB7-99D2-35A12D585B4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47941A3-F35D-D45F-3474-F792BF0A67BA}"/>
              </a:ext>
            </a:extLst>
          </p:cNvPr>
          <p:cNvGrpSpPr/>
          <p:nvPr/>
        </p:nvGrpSpPr>
        <p:grpSpPr>
          <a:xfrm rot="-4319721">
            <a:off x="-7033129" y="-1139345"/>
            <a:ext cx="13181030" cy="5047255"/>
            <a:chOff x="0" y="0"/>
            <a:chExt cx="3471547" cy="1329318"/>
          </a:xfrm>
        </p:grpSpPr>
        <p:sp>
          <p:nvSpPr>
            <p:cNvPr id="3" name="Freeform 3">
              <a:extLst>
                <a:ext uri="{FF2B5EF4-FFF2-40B4-BE49-F238E27FC236}">
                  <a16:creationId xmlns:a16="http://schemas.microsoft.com/office/drawing/2014/main" id="{9454362A-4DC3-2381-4EBD-85546AF83B9D}"/>
                </a:ext>
              </a:extLst>
            </p:cNvPr>
            <p:cNvSpPr/>
            <p:nvPr/>
          </p:nvSpPr>
          <p:spPr>
            <a:xfrm>
              <a:off x="0" y="0"/>
              <a:ext cx="3471547" cy="1329318"/>
            </a:xfrm>
            <a:custGeom>
              <a:avLst/>
              <a:gdLst/>
              <a:ahLst/>
              <a:cxnLst/>
              <a:rect l="l" t="t" r="r" b="b"/>
              <a:pathLst>
                <a:path w="3471547" h="1329318">
                  <a:moveTo>
                    <a:pt x="0" y="0"/>
                  </a:moveTo>
                  <a:lnTo>
                    <a:pt x="3471547" y="0"/>
                  </a:lnTo>
                  <a:lnTo>
                    <a:pt x="3471547" y="1329318"/>
                  </a:lnTo>
                  <a:lnTo>
                    <a:pt x="0" y="1329318"/>
                  </a:lnTo>
                  <a:close/>
                </a:path>
              </a:pathLst>
            </a:custGeom>
            <a:solidFill>
              <a:srgbClr val="0B5298"/>
            </a:solidFill>
          </p:spPr>
          <p:txBody>
            <a:bodyPr/>
            <a:lstStyle/>
            <a:p>
              <a:endParaRPr lang="en-US"/>
            </a:p>
          </p:txBody>
        </p:sp>
        <p:sp>
          <p:nvSpPr>
            <p:cNvPr id="4" name="TextBox 4">
              <a:extLst>
                <a:ext uri="{FF2B5EF4-FFF2-40B4-BE49-F238E27FC236}">
                  <a16:creationId xmlns:a16="http://schemas.microsoft.com/office/drawing/2014/main" id="{4CEDAC76-0378-A8FE-9ABF-BC188A528DE2}"/>
                </a:ext>
              </a:extLst>
            </p:cNvPr>
            <p:cNvSpPr txBox="1"/>
            <p:nvPr/>
          </p:nvSpPr>
          <p:spPr>
            <a:xfrm>
              <a:off x="0" y="-76200"/>
              <a:ext cx="3471547" cy="1405518"/>
            </a:xfrm>
            <a:prstGeom prst="rect">
              <a:avLst/>
            </a:prstGeom>
          </p:spPr>
          <p:txBody>
            <a:bodyPr lIns="50800" tIns="50800" rIns="50800" bIns="50800" rtlCol="0" anchor="ctr"/>
            <a:lstStyle/>
            <a:p>
              <a:pPr marL="0" lvl="0" indent="0" algn="ctr">
                <a:lnSpc>
                  <a:spcPts val="2659"/>
                </a:lnSpc>
              </a:pPr>
              <a:endParaRPr/>
            </a:p>
          </p:txBody>
        </p:sp>
      </p:grpSp>
      <p:sp>
        <p:nvSpPr>
          <p:cNvPr id="5" name="Freeform 5">
            <a:extLst>
              <a:ext uri="{FF2B5EF4-FFF2-40B4-BE49-F238E27FC236}">
                <a16:creationId xmlns:a16="http://schemas.microsoft.com/office/drawing/2014/main" id="{32969E53-02D7-1F7D-2002-13AA5907A639}"/>
              </a:ext>
            </a:extLst>
          </p:cNvPr>
          <p:cNvSpPr/>
          <p:nvPr/>
        </p:nvSpPr>
        <p:spPr>
          <a:xfrm>
            <a:off x="-442614" y="6286303"/>
            <a:ext cx="2114182" cy="4291608"/>
          </a:xfrm>
          <a:custGeom>
            <a:avLst/>
            <a:gdLst/>
            <a:ahLst/>
            <a:cxnLst/>
            <a:rect l="l" t="t" r="r" b="b"/>
            <a:pathLst>
              <a:path w="2114182" h="4291608">
                <a:moveTo>
                  <a:pt x="0" y="0"/>
                </a:moveTo>
                <a:lnTo>
                  <a:pt x="2114181" y="0"/>
                </a:lnTo>
                <a:lnTo>
                  <a:pt x="2114181" y="4291609"/>
                </a:lnTo>
                <a:lnTo>
                  <a:pt x="0" y="4291609"/>
                </a:lnTo>
                <a:lnTo>
                  <a:pt x="0" y="0"/>
                </a:lnTo>
                <a:close/>
              </a:path>
            </a:pathLst>
          </a:custGeom>
          <a:blipFill>
            <a:blip r:embed="rId2"/>
            <a:stretch>
              <a:fillRect/>
            </a:stretch>
          </a:blipFill>
        </p:spPr>
        <p:txBody>
          <a:bodyPr/>
          <a:lstStyle/>
          <a:p>
            <a:endParaRPr lang="en-US"/>
          </a:p>
        </p:txBody>
      </p:sp>
      <p:grpSp>
        <p:nvGrpSpPr>
          <p:cNvPr id="6" name="Group 6">
            <a:extLst>
              <a:ext uri="{FF2B5EF4-FFF2-40B4-BE49-F238E27FC236}">
                <a16:creationId xmlns:a16="http://schemas.microsoft.com/office/drawing/2014/main" id="{512A2F56-BD6E-7A6B-627B-28C50EA819B2}"/>
              </a:ext>
            </a:extLst>
          </p:cNvPr>
          <p:cNvGrpSpPr/>
          <p:nvPr/>
        </p:nvGrpSpPr>
        <p:grpSpPr>
          <a:xfrm rot="-4319721">
            <a:off x="11697485" y="6169918"/>
            <a:ext cx="13181030" cy="4290457"/>
            <a:chOff x="0" y="0"/>
            <a:chExt cx="3471547" cy="1129997"/>
          </a:xfrm>
        </p:grpSpPr>
        <p:sp>
          <p:nvSpPr>
            <p:cNvPr id="7" name="Freeform 7">
              <a:extLst>
                <a:ext uri="{FF2B5EF4-FFF2-40B4-BE49-F238E27FC236}">
                  <a16:creationId xmlns:a16="http://schemas.microsoft.com/office/drawing/2014/main" id="{244394CA-CB4D-4971-446E-4CC581EB302F}"/>
                </a:ext>
              </a:extLst>
            </p:cNvPr>
            <p:cNvSpPr/>
            <p:nvPr/>
          </p:nvSpPr>
          <p:spPr>
            <a:xfrm>
              <a:off x="0" y="0"/>
              <a:ext cx="3471547" cy="1129997"/>
            </a:xfrm>
            <a:custGeom>
              <a:avLst/>
              <a:gdLst/>
              <a:ahLst/>
              <a:cxnLst/>
              <a:rect l="l" t="t" r="r" b="b"/>
              <a:pathLst>
                <a:path w="3471547" h="1129997">
                  <a:moveTo>
                    <a:pt x="0" y="0"/>
                  </a:moveTo>
                  <a:lnTo>
                    <a:pt x="3471547" y="0"/>
                  </a:lnTo>
                  <a:lnTo>
                    <a:pt x="3471547" y="1129997"/>
                  </a:lnTo>
                  <a:lnTo>
                    <a:pt x="0" y="1129997"/>
                  </a:lnTo>
                  <a:close/>
                </a:path>
              </a:pathLst>
            </a:custGeom>
            <a:solidFill>
              <a:srgbClr val="0B5298"/>
            </a:solidFill>
          </p:spPr>
          <p:txBody>
            <a:bodyPr/>
            <a:lstStyle/>
            <a:p>
              <a:endParaRPr lang="en-US"/>
            </a:p>
          </p:txBody>
        </p:sp>
        <p:sp>
          <p:nvSpPr>
            <p:cNvPr id="8" name="TextBox 8">
              <a:extLst>
                <a:ext uri="{FF2B5EF4-FFF2-40B4-BE49-F238E27FC236}">
                  <a16:creationId xmlns:a16="http://schemas.microsoft.com/office/drawing/2014/main" id="{26F3DBEC-57E8-0AD4-D0EF-9406BB584B94}"/>
                </a:ext>
              </a:extLst>
            </p:cNvPr>
            <p:cNvSpPr txBox="1"/>
            <p:nvPr/>
          </p:nvSpPr>
          <p:spPr>
            <a:xfrm>
              <a:off x="0" y="-76200"/>
              <a:ext cx="3471547" cy="1206197"/>
            </a:xfrm>
            <a:prstGeom prst="rect">
              <a:avLst/>
            </a:prstGeom>
          </p:spPr>
          <p:txBody>
            <a:bodyPr lIns="50800" tIns="50800" rIns="50800" bIns="50800" rtlCol="0" anchor="ctr"/>
            <a:lstStyle/>
            <a:p>
              <a:pPr marL="0" lvl="0" indent="0" algn="ctr">
                <a:lnSpc>
                  <a:spcPts val="2659"/>
                </a:lnSpc>
              </a:pPr>
              <a:endParaRPr/>
            </a:p>
          </p:txBody>
        </p:sp>
      </p:grpSp>
      <p:sp>
        <p:nvSpPr>
          <p:cNvPr id="9" name="Freeform 9">
            <a:extLst>
              <a:ext uri="{FF2B5EF4-FFF2-40B4-BE49-F238E27FC236}">
                <a16:creationId xmlns:a16="http://schemas.microsoft.com/office/drawing/2014/main" id="{55F071BE-CB41-465B-784E-3ACFEFDB13C8}"/>
              </a:ext>
            </a:extLst>
          </p:cNvPr>
          <p:cNvSpPr/>
          <p:nvPr/>
        </p:nvSpPr>
        <p:spPr>
          <a:xfrm>
            <a:off x="-734405" y="-1009042"/>
            <a:ext cx="4436419" cy="4824276"/>
          </a:xfrm>
          <a:custGeom>
            <a:avLst/>
            <a:gdLst/>
            <a:ahLst/>
            <a:cxnLst/>
            <a:rect l="l" t="t" r="r" b="b"/>
            <a:pathLst>
              <a:path w="4436419" h="4824276">
                <a:moveTo>
                  <a:pt x="0" y="0"/>
                </a:moveTo>
                <a:lnTo>
                  <a:pt x="4436419" y="0"/>
                </a:lnTo>
                <a:lnTo>
                  <a:pt x="4436419" y="4824276"/>
                </a:lnTo>
                <a:lnTo>
                  <a:pt x="0" y="482427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0" name="Freeform 10">
            <a:extLst>
              <a:ext uri="{FF2B5EF4-FFF2-40B4-BE49-F238E27FC236}">
                <a16:creationId xmlns:a16="http://schemas.microsoft.com/office/drawing/2014/main" id="{86C46AD2-2696-FEF6-43EB-432206C38EF0}"/>
              </a:ext>
            </a:extLst>
          </p:cNvPr>
          <p:cNvSpPr/>
          <p:nvPr/>
        </p:nvSpPr>
        <p:spPr>
          <a:xfrm flipH="1" flipV="1">
            <a:off x="14470870" y="6490580"/>
            <a:ext cx="4436419" cy="4824276"/>
          </a:xfrm>
          <a:custGeom>
            <a:avLst/>
            <a:gdLst/>
            <a:ahLst/>
            <a:cxnLst/>
            <a:rect l="l" t="t" r="r" b="b"/>
            <a:pathLst>
              <a:path w="4436419" h="4824276">
                <a:moveTo>
                  <a:pt x="4436419" y="4824276"/>
                </a:moveTo>
                <a:lnTo>
                  <a:pt x="0" y="4824276"/>
                </a:lnTo>
                <a:lnTo>
                  <a:pt x="0" y="0"/>
                </a:lnTo>
                <a:lnTo>
                  <a:pt x="4436419" y="0"/>
                </a:lnTo>
                <a:lnTo>
                  <a:pt x="4436419" y="4824276"/>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1" name="Freeform 11">
            <a:extLst>
              <a:ext uri="{FF2B5EF4-FFF2-40B4-BE49-F238E27FC236}">
                <a16:creationId xmlns:a16="http://schemas.microsoft.com/office/drawing/2014/main" id="{E53BF372-3F79-3DF6-48B2-1D53FC516589}"/>
              </a:ext>
            </a:extLst>
          </p:cNvPr>
          <p:cNvSpPr/>
          <p:nvPr/>
        </p:nvSpPr>
        <p:spPr>
          <a:xfrm>
            <a:off x="-64837" y="8060016"/>
            <a:ext cx="2312531" cy="2312531"/>
          </a:xfrm>
          <a:custGeom>
            <a:avLst/>
            <a:gdLst/>
            <a:ahLst/>
            <a:cxnLst/>
            <a:rect l="l" t="t" r="r" b="b"/>
            <a:pathLst>
              <a:path w="2312531" h="2312531">
                <a:moveTo>
                  <a:pt x="0" y="0"/>
                </a:moveTo>
                <a:lnTo>
                  <a:pt x="2312531" y="0"/>
                </a:lnTo>
                <a:lnTo>
                  <a:pt x="2312531" y="2312531"/>
                </a:lnTo>
                <a:lnTo>
                  <a:pt x="0" y="231253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2" name="Freeform 12">
            <a:extLst>
              <a:ext uri="{FF2B5EF4-FFF2-40B4-BE49-F238E27FC236}">
                <a16:creationId xmlns:a16="http://schemas.microsoft.com/office/drawing/2014/main" id="{5780CCC7-65E5-9335-892D-7586987A4E5F}"/>
              </a:ext>
            </a:extLst>
          </p:cNvPr>
          <p:cNvSpPr/>
          <p:nvPr/>
        </p:nvSpPr>
        <p:spPr>
          <a:xfrm flipH="1" flipV="1">
            <a:off x="16546204" y="-618883"/>
            <a:ext cx="2114182" cy="4291608"/>
          </a:xfrm>
          <a:custGeom>
            <a:avLst/>
            <a:gdLst/>
            <a:ahLst/>
            <a:cxnLst/>
            <a:rect l="l" t="t" r="r" b="b"/>
            <a:pathLst>
              <a:path w="2114182" h="4291608">
                <a:moveTo>
                  <a:pt x="2114182" y="4291608"/>
                </a:moveTo>
                <a:lnTo>
                  <a:pt x="0" y="4291608"/>
                </a:lnTo>
                <a:lnTo>
                  <a:pt x="0" y="0"/>
                </a:lnTo>
                <a:lnTo>
                  <a:pt x="2114182" y="0"/>
                </a:lnTo>
                <a:lnTo>
                  <a:pt x="2114182" y="4291608"/>
                </a:lnTo>
                <a:close/>
              </a:path>
            </a:pathLst>
          </a:custGeom>
          <a:blipFill>
            <a:blip r:embed="rId2"/>
            <a:stretch>
              <a:fillRect/>
            </a:stretch>
          </a:blipFill>
        </p:spPr>
        <p:txBody>
          <a:bodyPr/>
          <a:lstStyle/>
          <a:p>
            <a:endParaRPr lang="en-US"/>
          </a:p>
        </p:txBody>
      </p:sp>
      <p:sp>
        <p:nvSpPr>
          <p:cNvPr id="13" name="Freeform 13">
            <a:extLst>
              <a:ext uri="{FF2B5EF4-FFF2-40B4-BE49-F238E27FC236}">
                <a16:creationId xmlns:a16="http://schemas.microsoft.com/office/drawing/2014/main" id="{7A7C3405-717E-FD35-86A4-78FEC17D0FBB}"/>
              </a:ext>
            </a:extLst>
          </p:cNvPr>
          <p:cNvSpPr/>
          <p:nvPr/>
        </p:nvSpPr>
        <p:spPr>
          <a:xfrm flipH="1" flipV="1">
            <a:off x="15975469" y="-127566"/>
            <a:ext cx="2312531" cy="2312531"/>
          </a:xfrm>
          <a:custGeom>
            <a:avLst/>
            <a:gdLst/>
            <a:ahLst/>
            <a:cxnLst/>
            <a:rect l="l" t="t" r="r" b="b"/>
            <a:pathLst>
              <a:path w="2312531" h="2312531">
                <a:moveTo>
                  <a:pt x="2312531" y="2312532"/>
                </a:moveTo>
                <a:lnTo>
                  <a:pt x="0" y="2312532"/>
                </a:lnTo>
                <a:lnTo>
                  <a:pt x="0" y="0"/>
                </a:lnTo>
                <a:lnTo>
                  <a:pt x="2312531" y="0"/>
                </a:lnTo>
                <a:lnTo>
                  <a:pt x="2312531" y="2312532"/>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pic>
        <p:nvPicPr>
          <p:cNvPr id="20" name="Picture 19">
            <a:extLst>
              <a:ext uri="{FF2B5EF4-FFF2-40B4-BE49-F238E27FC236}">
                <a16:creationId xmlns:a16="http://schemas.microsoft.com/office/drawing/2014/main" id="{04F02BC5-CB54-90BA-0805-AFC1A55C6EC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00396" y="51656"/>
            <a:ext cx="9591804" cy="10235344"/>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6490844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4319721">
            <a:off x="-7033129" y="-1139345"/>
            <a:ext cx="13181030" cy="5047255"/>
            <a:chOff x="0" y="0"/>
            <a:chExt cx="3471547" cy="1329318"/>
          </a:xfrm>
        </p:grpSpPr>
        <p:sp>
          <p:nvSpPr>
            <p:cNvPr id="3" name="Freeform 3"/>
            <p:cNvSpPr/>
            <p:nvPr/>
          </p:nvSpPr>
          <p:spPr>
            <a:xfrm>
              <a:off x="0" y="0"/>
              <a:ext cx="3471547" cy="1329318"/>
            </a:xfrm>
            <a:custGeom>
              <a:avLst/>
              <a:gdLst/>
              <a:ahLst/>
              <a:cxnLst/>
              <a:rect l="l" t="t" r="r" b="b"/>
              <a:pathLst>
                <a:path w="3471547" h="1329318">
                  <a:moveTo>
                    <a:pt x="0" y="0"/>
                  </a:moveTo>
                  <a:lnTo>
                    <a:pt x="3471547" y="0"/>
                  </a:lnTo>
                  <a:lnTo>
                    <a:pt x="3471547" y="1329318"/>
                  </a:lnTo>
                  <a:lnTo>
                    <a:pt x="0" y="1329318"/>
                  </a:lnTo>
                  <a:close/>
                </a:path>
              </a:pathLst>
            </a:custGeom>
            <a:solidFill>
              <a:srgbClr val="0B5298"/>
            </a:solidFill>
          </p:spPr>
          <p:txBody>
            <a:bodyPr/>
            <a:lstStyle/>
            <a:p>
              <a:endParaRPr lang="en-US"/>
            </a:p>
          </p:txBody>
        </p:sp>
        <p:sp>
          <p:nvSpPr>
            <p:cNvPr id="4" name="TextBox 4"/>
            <p:cNvSpPr txBox="1"/>
            <p:nvPr/>
          </p:nvSpPr>
          <p:spPr>
            <a:xfrm>
              <a:off x="0" y="-76200"/>
              <a:ext cx="3471547" cy="1405518"/>
            </a:xfrm>
            <a:prstGeom prst="rect">
              <a:avLst/>
            </a:prstGeom>
          </p:spPr>
          <p:txBody>
            <a:bodyPr lIns="50800" tIns="50800" rIns="50800" bIns="50800" rtlCol="0" anchor="ctr"/>
            <a:lstStyle/>
            <a:p>
              <a:pPr marL="0" lvl="0" indent="0" algn="ctr">
                <a:lnSpc>
                  <a:spcPts val="2659"/>
                </a:lnSpc>
              </a:pPr>
              <a:endParaRPr/>
            </a:p>
          </p:txBody>
        </p:sp>
      </p:grpSp>
      <p:sp>
        <p:nvSpPr>
          <p:cNvPr id="5" name="Freeform 5"/>
          <p:cNvSpPr/>
          <p:nvPr/>
        </p:nvSpPr>
        <p:spPr>
          <a:xfrm>
            <a:off x="-442614" y="6286303"/>
            <a:ext cx="2114182" cy="4291608"/>
          </a:xfrm>
          <a:custGeom>
            <a:avLst/>
            <a:gdLst/>
            <a:ahLst/>
            <a:cxnLst/>
            <a:rect l="l" t="t" r="r" b="b"/>
            <a:pathLst>
              <a:path w="2114182" h="4291608">
                <a:moveTo>
                  <a:pt x="0" y="0"/>
                </a:moveTo>
                <a:lnTo>
                  <a:pt x="2114181" y="0"/>
                </a:lnTo>
                <a:lnTo>
                  <a:pt x="2114181" y="4291609"/>
                </a:lnTo>
                <a:lnTo>
                  <a:pt x="0" y="4291609"/>
                </a:lnTo>
                <a:lnTo>
                  <a:pt x="0" y="0"/>
                </a:lnTo>
                <a:close/>
              </a:path>
            </a:pathLst>
          </a:custGeom>
          <a:blipFill>
            <a:blip r:embed="rId2"/>
            <a:stretch>
              <a:fillRect/>
            </a:stretch>
          </a:blipFill>
        </p:spPr>
        <p:txBody>
          <a:bodyPr/>
          <a:lstStyle/>
          <a:p>
            <a:endParaRPr lang="en-US"/>
          </a:p>
        </p:txBody>
      </p:sp>
      <p:grpSp>
        <p:nvGrpSpPr>
          <p:cNvPr id="6" name="Group 6"/>
          <p:cNvGrpSpPr/>
          <p:nvPr/>
        </p:nvGrpSpPr>
        <p:grpSpPr>
          <a:xfrm rot="-4319721">
            <a:off x="11697485" y="6169918"/>
            <a:ext cx="13181030" cy="4290457"/>
            <a:chOff x="0" y="0"/>
            <a:chExt cx="3471547" cy="1129997"/>
          </a:xfrm>
        </p:grpSpPr>
        <p:sp>
          <p:nvSpPr>
            <p:cNvPr id="7" name="Freeform 7"/>
            <p:cNvSpPr/>
            <p:nvPr/>
          </p:nvSpPr>
          <p:spPr>
            <a:xfrm>
              <a:off x="0" y="0"/>
              <a:ext cx="3471547" cy="1129997"/>
            </a:xfrm>
            <a:custGeom>
              <a:avLst/>
              <a:gdLst/>
              <a:ahLst/>
              <a:cxnLst/>
              <a:rect l="l" t="t" r="r" b="b"/>
              <a:pathLst>
                <a:path w="3471547" h="1129997">
                  <a:moveTo>
                    <a:pt x="0" y="0"/>
                  </a:moveTo>
                  <a:lnTo>
                    <a:pt x="3471547" y="0"/>
                  </a:lnTo>
                  <a:lnTo>
                    <a:pt x="3471547" y="1129997"/>
                  </a:lnTo>
                  <a:lnTo>
                    <a:pt x="0" y="1129997"/>
                  </a:lnTo>
                  <a:close/>
                </a:path>
              </a:pathLst>
            </a:custGeom>
            <a:solidFill>
              <a:srgbClr val="0B5298"/>
            </a:solidFill>
          </p:spPr>
          <p:txBody>
            <a:bodyPr/>
            <a:lstStyle/>
            <a:p>
              <a:endParaRPr lang="en-US"/>
            </a:p>
          </p:txBody>
        </p:sp>
        <p:sp>
          <p:nvSpPr>
            <p:cNvPr id="8" name="TextBox 8"/>
            <p:cNvSpPr txBox="1"/>
            <p:nvPr/>
          </p:nvSpPr>
          <p:spPr>
            <a:xfrm>
              <a:off x="0" y="-76200"/>
              <a:ext cx="3471547" cy="1206197"/>
            </a:xfrm>
            <a:prstGeom prst="rect">
              <a:avLst/>
            </a:prstGeom>
          </p:spPr>
          <p:txBody>
            <a:bodyPr lIns="50800" tIns="50800" rIns="50800" bIns="50800" rtlCol="0" anchor="ctr"/>
            <a:lstStyle/>
            <a:p>
              <a:pPr marL="0" lvl="0" indent="0" algn="ctr">
                <a:lnSpc>
                  <a:spcPts val="2659"/>
                </a:lnSpc>
              </a:pPr>
              <a:endParaRPr/>
            </a:p>
          </p:txBody>
        </p:sp>
      </p:grpSp>
      <p:sp>
        <p:nvSpPr>
          <p:cNvPr id="9" name="Freeform 9"/>
          <p:cNvSpPr/>
          <p:nvPr/>
        </p:nvSpPr>
        <p:spPr>
          <a:xfrm>
            <a:off x="-734405" y="-1009042"/>
            <a:ext cx="4436419" cy="4824276"/>
          </a:xfrm>
          <a:custGeom>
            <a:avLst/>
            <a:gdLst/>
            <a:ahLst/>
            <a:cxnLst/>
            <a:rect l="l" t="t" r="r" b="b"/>
            <a:pathLst>
              <a:path w="4436419" h="4824276">
                <a:moveTo>
                  <a:pt x="0" y="0"/>
                </a:moveTo>
                <a:lnTo>
                  <a:pt x="4436419" y="0"/>
                </a:lnTo>
                <a:lnTo>
                  <a:pt x="4436419" y="4824276"/>
                </a:lnTo>
                <a:lnTo>
                  <a:pt x="0" y="482427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0" name="Freeform 10"/>
          <p:cNvSpPr/>
          <p:nvPr/>
        </p:nvSpPr>
        <p:spPr>
          <a:xfrm flipH="1" flipV="1">
            <a:off x="14470870" y="6490580"/>
            <a:ext cx="4436419" cy="4824276"/>
          </a:xfrm>
          <a:custGeom>
            <a:avLst/>
            <a:gdLst/>
            <a:ahLst/>
            <a:cxnLst/>
            <a:rect l="l" t="t" r="r" b="b"/>
            <a:pathLst>
              <a:path w="4436419" h="4824276">
                <a:moveTo>
                  <a:pt x="4436419" y="4824276"/>
                </a:moveTo>
                <a:lnTo>
                  <a:pt x="0" y="4824276"/>
                </a:lnTo>
                <a:lnTo>
                  <a:pt x="0" y="0"/>
                </a:lnTo>
                <a:lnTo>
                  <a:pt x="4436419" y="0"/>
                </a:lnTo>
                <a:lnTo>
                  <a:pt x="4436419" y="4824276"/>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1" name="Freeform 11"/>
          <p:cNvSpPr/>
          <p:nvPr/>
        </p:nvSpPr>
        <p:spPr>
          <a:xfrm>
            <a:off x="-64837" y="8060016"/>
            <a:ext cx="2312531" cy="2312531"/>
          </a:xfrm>
          <a:custGeom>
            <a:avLst/>
            <a:gdLst/>
            <a:ahLst/>
            <a:cxnLst/>
            <a:rect l="l" t="t" r="r" b="b"/>
            <a:pathLst>
              <a:path w="2312531" h="2312531">
                <a:moveTo>
                  <a:pt x="0" y="0"/>
                </a:moveTo>
                <a:lnTo>
                  <a:pt x="2312531" y="0"/>
                </a:lnTo>
                <a:lnTo>
                  <a:pt x="2312531" y="2312531"/>
                </a:lnTo>
                <a:lnTo>
                  <a:pt x="0" y="231253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2" name="Freeform 12"/>
          <p:cNvSpPr/>
          <p:nvPr/>
        </p:nvSpPr>
        <p:spPr>
          <a:xfrm flipH="1" flipV="1">
            <a:off x="16546204" y="-618883"/>
            <a:ext cx="2114182" cy="4291608"/>
          </a:xfrm>
          <a:custGeom>
            <a:avLst/>
            <a:gdLst/>
            <a:ahLst/>
            <a:cxnLst/>
            <a:rect l="l" t="t" r="r" b="b"/>
            <a:pathLst>
              <a:path w="2114182" h="4291608">
                <a:moveTo>
                  <a:pt x="2114182" y="4291608"/>
                </a:moveTo>
                <a:lnTo>
                  <a:pt x="0" y="4291608"/>
                </a:lnTo>
                <a:lnTo>
                  <a:pt x="0" y="0"/>
                </a:lnTo>
                <a:lnTo>
                  <a:pt x="2114182" y="0"/>
                </a:lnTo>
                <a:lnTo>
                  <a:pt x="2114182" y="4291608"/>
                </a:lnTo>
                <a:close/>
              </a:path>
            </a:pathLst>
          </a:custGeom>
          <a:blipFill>
            <a:blip r:embed="rId2"/>
            <a:stretch>
              <a:fillRect/>
            </a:stretch>
          </a:blipFill>
        </p:spPr>
        <p:txBody>
          <a:bodyPr/>
          <a:lstStyle/>
          <a:p>
            <a:endParaRPr lang="en-US"/>
          </a:p>
        </p:txBody>
      </p:sp>
      <p:sp>
        <p:nvSpPr>
          <p:cNvPr id="13" name="Freeform 13"/>
          <p:cNvSpPr/>
          <p:nvPr/>
        </p:nvSpPr>
        <p:spPr>
          <a:xfrm flipH="1" flipV="1">
            <a:off x="15975469" y="-127566"/>
            <a:ext cx="2312531" cy="2312531"/>
          </a:xfrm>
          <a:custGeom>
            <a:avLst/>
            <a:gdLst/>
            <a:ahLst/>
            <a:cxnLst/>
            <a:rect l="l" t="t" r="r" b="b"/>
            <a:pathLst>
              <a:path w="2312531" h="2312531">
                <a:moveTo>
                  <a:pt x="2312531" y="2312532"/>
                </a:moveTo>
                <a:lnTo>
                  <a:pt x="0" y="2312532"/>
                </a:lnTo>
                <a:lnTo>
                  <a:pt x="0" y="0"/>
                </a:lnTo>
                <a:lnTo>
                  <a:pt x="2312531" y="0"/>
                </a:lnTo>
                <a:lnTo>
                  <a:pt x="2312531" y="2312532"/>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4" name="TextBox 14"/>
          <p:cNvSpPr txBox="1"/>
          <p:nvPr/>
        </p:nvSpPr>
        <p:spPr>
          <a:xfrm>
            <a:off x="10012904" y="7413442"/>
            <a:ext cx="5094018" cy="588094"/>
          </a:xfrm>
          <a:prstGeom prst="rect">
            <a:avLst/>
          </a:prstGeom>
        </p:spPr>
        <p:txBody>
          <a:bodyPr lIns="0" tIns="0" rIns="0" bIns="0" rtlCol="0" anchor="t">
            <a:spAutoFit/>
          </a:bodyPr>
          <a:lstStyle/>
          <a:p>
            <a:pPr marL="0" lvl="0" indent="0" algn="just">
              <a:lnSpc>
                <a:spcPts val="4735"/>
              </a:lnSpc>
            </a:pPr>
            <a:r>
              <a:rPr lang="en-US" sz="2367">
                <a:solidFill>
                  <a:srgbClr val="203842"/>
                </a:solidFill>
                <a:latin typeface="ITC Avant Garde Gothic"/>
                <a:ea typeface="ITC Avant Garde Gothic"/>
                <a:cs typeface="ITC Avant Garde Gothic"/>
                <a:sym typeface="ITC Avant Garde Gothic"/>
              </a:rPr>
              <a:t>"Change passwords, block access"</a:t>
            </a:r>
          </a:p>
        </p:txBody>
      </p:sp>
      <p:sp>
        <p:nvSpPr>
          <p:cNvPr id="15" name="TextBox 15"/>
          <p:cNvSpPr txBox="1"/>
          <p:nvPr/>
        </p:nvSpPr>
        <p:spPr>
          <a:xfrm>
            <a:off x="3038203" y="7422967"/>
            <a:ext cx="5094018" cy="588094"/>
          </a:xfrm>
          <a:prstGeom prst="rect">
            <a:avLst/>
          </a:prstGeom>
        </p:spPr>
        <p:txBody>
          <a:bodyPr lIns="0" tIns="0" rIns="0" bIns="0" rtlCol="0" anchor="t">
            <a:spAutoFit/>
          </a:bodyPr>
          <a:lstStyle/>
          <a:p>
            <a:pPr marL="0" lvl="0" indent="0" algn="just">
              <a:lnSpc>
                <a:spcPts val="4735"/>
              </a:lnSpc>
            </a:pPr>
            <a:r>
              <a:rPr lang="en-US" sz="2367">
                <a:solidFill>
                  <a:srgbClr val="203842"/>
                </a:solidFill>
                <a:latin typeface="ITC Avant Garde Gothic"/>
                <a:ea typeface="ITC Avant Garde Gothic"/>
                <a:cs typeface="ITC Avant Garde Gothic"/>
                <a:sym typeface="ITC Avant Garde Gothic"/>
              </a:rPr>
              <a:t>Response Agent</a:t>
            </a:r>
          </a:p>
        </p:txBody>
      </p:sp>
      <p:sp>
        <p:nvSpPr>
          <p:cNvPr id="16" name="TextBox 16"/>
          <p:cNvSpPr txBox="1"/>
          <p:nvPr/>
        </p:nvSpPr>
        <p:spPr>
          <a:xfrm>
            <a:off x="10060529" y="6249936"/>
            <a:ext cx="5094018" cy="588094"/>
          </a:xfrm>
          <a:prstGeom prst="rect">
            <a:avLst/>
          </a:prstGeom>
        </p:spPr>
        <p:txBody>
          <a:bodyPr lIns="0" tIns="0" rIns="0" bIns="0" rtlCol="0" anchor="t">
            <a:spAutoFit/>
          </a:bodyPr>
          <a:lstStyle/>
          <a:p>
            <a:pPr marL="0" lvl="0" indent="0" algn="just">
              <a:lnSpc>
                <a:spcPts val="4735"/>
              </a:lnSpc>
            </a:pPr>
            <a:r>
              <a:rPr lang="en-US" sz="2367">
                <a:solidFill>
                  <a:srgbClr val="203842"/>
                </a:solidFill>
                <a:latin typeface="ITC Avant Garde Gothic"/>
                <a:ea typeface="ITC Avant Garde Gothic"/>
                <a:cs typeface="ITC Avant Garde Gothic"/>
                <a:sym typeface="ITC Avant Garde Gothic"/>
              </a:rPr>
              <a:t>"Weak passwords found"</a:t>
            </a:r>
          </a:p>
        </p:txBody>
      </p:sp>
      <p:sp>
        <p:nvSpPr>
          <p:cNvPr id="17" name="TextBox 17"/>
          <p:cNvSpPr txBox="1"/>
          <p:nvPr/>
        </p:nvSpPr>
        <p:spPr>
          <a:xfrm>
            <a:off x="3038203" y="6259461"/>
            <a:ext cx="5094018" cy="588094"/>
          </a:xfrm>
          <a:prstGeom prst="rect">
            <a:avLst/>
          </a:prstGeom>
        </p:spPr>
        <p:txBody>
          <a:bodyPr lIns="0" tIns="0" rIns="0" bIns="0" rtlCol="0" anchor="t">
            <a:spAutoFit/>
          </a:bodyPr>
          <a:lstStyle/>
          <a:p>
            <a:pPr marL="0" lvl="0" indent="0" algn="just">
              <a:lnSpc>
                <a:spcPts val="4735"/>
              </a:lnSpc>
            </a:pPr>
            <a:r>
              <a:rPr lang="en-US" sz="2367">
                <a:solidFill>
                  <a:srgbClr val="203842"/>
                </a:solidFill>
                <a:latin typeface="ITC Avant Garde Gothic"/>
                <a:ea typeface="ITC Avant Garde Gothic"/>
                <a:cs typeface="ITC Avant Garde Gothic"/>
                <a:sym typeface="ITC Avant Garde Gothic"/>
              </a:rPr>
              <a:t>Vulnerability Agent</a:t>
            </a:r>
          </a:p>
        </p:txBody>
      </p:sp>
      <p:sp>
        <p:nvSpPr>
          <p:cNvPr id="18" name="TextBox 18"/>
          <p:cNvSpPr txBox="1"/>
          <p:nvPr/>
        </p:nvSpPr>
        <p:spPr>
          <a:xfrm>
            <a:off x="10108154" y="5086430"/>
            <a:ext cx="5094018" cy="588094"/>
          </a:xfrm>
          <a:prstGeom prst="rect">
            <a:avLst/>
          </a:prstGeom>
        </p:spPr>
        <p:txBody>
          <a:bodyPr lIns="0" tIns="0" rIns="0" bIns="0" rtlCol="0" anchor="t">
            <a:spAutoFit/>
          </a:bodyPr>
          <a:lstStyle/>
          <a:p>
            <a:pPr marL="0" lvl="0" indent="0" algn="just">
              <a:lnSpc>
                <a:spcPts val="4735"/>
              </a:lnSpc>
            </a:pPr>
            <a:r>
              <a:rPr lang="en-US" sz="2367">
                <a:solidFill>
                  <a:srgbClr val="203842"/>
                </a:solidFill>
                <a:latin typeface="ITC Avant Garde Gothic"/>
                <a:ea typeface="ITC Avant Garde Gothic"/>
                <a:cs typeface="ITC Avant Garde Gothic"/>
                <a:sym typeface="ITC Avant Garde Gothic"/>
              </a:rPr>
              <a:t>"Suspicious activity detected"</a:t>
            </a:r>
          </a:p>
        </p:txBody>
      </p:sp>
      <p:sp>
        <p:nvSpPr>
          <p:cNvPr id="19" name="TextBox 19"/>
          <p:cNvSpPr txBox="1"/>
          <p:nvPr/>
        </p:nvSpPr>
        <p:spPr>
          <a:xfrm>
            <a:off x="3038203" y="5095955"/>
            <a:ext cx="5094018" cy="588094"/>
          </a:xfrm>
          <a:prstGeom prst="rect">
            <a:avLst/>
          </a:prstGeom>
        </p:spPr>
        <p:txBody>
          <a:bodyPr lIns="0" tIns="0" rIns="0" bIns="0" rtlCol="0" anchor="t">
            <a:spAutoFit/>
          </a:bodyPr>
          <a:lstStyle/>
          <a:p>
            <a:pPr marL="0" lvl="0" indent="0" algn="just">
              <a:lnSpc>
                <a:spcPts val="4735"/>
              </a:lnSpc>
            </a:pPr>
            <a:r>
              <a:rPr lang="en-US" sz="2367">
                <a:solidFill>
                  <a:srgbClr val="203842"/>
                </a:solidFill>
                <a:latin typeface="ITC Avant Garde Gothic"/>
                <a:ea typeface="ITC Avant Garde Gothic"/>
                <a:cs typeface="ITC Avant Garde Gothic"/>
                <a:sym typeface="ITC Avant Garde Gothic"/>
              </a:rPr>
              <a:t>Threat Agent</a:t>
            </a:r>
          </a:p>
        </p:txBody>
      </p:sp>
      <p:sp>
        <p:nvSpPr>
          <p:cNvPr id="20" name="TextBox 20"/>
          <p:cNvSpPr txBox="1"/>
          <p:nvPr/>
        </p:nvSpPr>
        <p:spPr>
          <a:xfrm>
            <a:off x="10155779" y="3922924"/>
            <a:ext cx="5094018" cy="588094"/>
          </a:xfrm>
          <a:prstGeom prst="rect">
            <a:avLst/>
          </a:prstGeom>
        </p:spPr>
        <p:txBody>
          <a:bodyPr lIns="0" tIns="0" rIns="0" bIns="0" rtlCol="0" anchor="t">
            <a:spAutoFit/>
          </a:bodyPr>
          <a:lstStyle/>
          <a:p>
            <a:pPr marL="0" lvl="0" indent="0" algn="just">
              <a:lnSpc>
                <a:spcPts val="4735"/>
              </a:lnSpc>
            </a:pPr>
            <a:r>
              <a:rPr lang="en-US" sz="2367">
                <a:solidFill>
                  <a:srgbClr val="203842"/>
                </a:solidFill>
                <a:latin typeface="ITC Avant Garde Gothic"/>
                <a:ea typeface="ITC Avant Garde Gothic"/>
                <a:cs typeface="ITC Avant Garde Gothic"/>
                <a:sym typeface="ITC Avant Garde Gothic"/>
              </a:rPr>
              <a:t>"Check system security"</a:t>
            </a:r>
          </a:p>
        </p:txBody>
      </p:sp>
      <p:sp>
        <p:nvSpPr>
          <p:cNvPr id="21" name="TextBox 21"/>
          <p:cNvSpPr txBox="1"/>
          <p:nvPr/>
        </p:nvSpPr>
        <p:spPr>
          <a:xfrm>
            <a:off x="3038203" y="3932449"/>
            <a:ext cx="5094018" cy="588094"/>
          </a:xfrm>
          <a:prstGeom prst="rect">
            <a:avLst/>
          </a:prstGeom>
        </p:spPr>
        <p:txBody>
          <a:bodyPr lIns="0" tIns="0" rIns="0" bIns="0" rtlCol="0" anchor="t">
            <a:spAutoFit/>
          </a:bodyPr>
          <a:lstStyle/>
          <a:p>
            <a:pPr marL="0" lvl="0" indent="0" algn="just">
              <a:lnSpc>
                <a:spcPts val="4735"/>
              </a:lnSpc>
            </a:pPr>
            <a:r>
              <a:rPr lang="en-US" sz="2367">
                <a:solidFill>
                  <a:srgbClr val="203842"/>
                </a:solidFill>
                <a:latin typeface="ITC Avant Garde Gothic"/>
                <a:ea typeface="ITC Avant Garde Gothic"/>
                <a:cs typeface="ITC Avant Garde Gothic"/>
                <a:sym typeface="ITC Avant Garde Gothic"/>
              </a:rPr>
              <a:t>Task Input</a:t>
            </a:r>
          </a:p>
        </p:txBody>
      </p:sp>
      <p:sp>
        <p:nvSpPr>
          <p:cNvPr id="22" name="TextBox 22"/>
          <p:cNvSpPr txBox="1"/>
          <p:nvPr/>
        </p:nvSpPr>
        <p:spPr>
          <a:xfrm>
            <a:off x="5140314" y="1904935"/>
            <a:ext cx="8297704" cy="1699393"/>
          </a:xfrm>
          <a:prstGeom prst="rect">
            <a:avLst/>
          </a:prstGeom>
        </p:spPr>
        <p:txBody>
          <a:bodyPr lIns="0" tIns="0" rIns="0" bIns="0" rtlCol="0" anchor="t">
            <a:spAutoFit/>
          </a:bodyPr>
          <a:lstStyle/>
          <a:p>
            <a:pPr marL="0" lvl="0" indent="0" algn="ctr">
              <a:lnSpc>
                <a:spcPts val="6362"/>
              </a:lnSpc>
            </a:pPr>
            <a:r>
              <a:rPr lang="en-US" sz="7952" b="1">
                <a:solidFill>
                  <a:srgbClr val="203842"/>
                </a:solidFill>
                <a:latin typeface="League Spartan"/>
                <a:ea typeface="League Spartan"/>
                <a:cs typeface="League Spartan"/>
                <a:sym typeface="League Spartan"/>
              </a:rPr>
              <a:t>OUTPUT EXAMPLE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96134-B231-D20A-1141-91D943FDBD2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DB0B0A4-BF33-2C61-95E6-04E250088200}"/>
              </a:ext>
            </a:extLst>
          </p:cNvPr>
          <p:cNvGrpSpPr/>
          <p:nvPr/>
        </p:nvGrpSpPr>
        <p:grpSpPr>
          <a:xfrm rot="-4319721">
            <a:off x="-7033129" y="-1139345"/>
            <a:ext cx="13181030" cy="5047255"/>
            <a:chOff x="0" y="0"/>
            <a:chExt cx="3471547" cy="1329318"/>
          </a:xfrm>
        </p:grpSpPr>
        <p:sp>
          <p:nvSpPr>
            <p:cNvPr id="3" name="Freeform 3">
              <a:extLst>
                <a:ext uri="{FF2B5EF4-FFF2-40B4-BE49-F238E27FC236}">
                  <a16:creationId xmlns:a16="http://schemas.microsoft.com/office/drawing/2014/main" id="{14A9B4FD-36A1-FABC-AADC-AE99807CE35B}"/>
                </a:ext>
              </a:extLst>
            </p:cNvPr>
            <p:cNvSpPr/>
            <p:nvPr/>
          </p:nvSpPr>
          <p:spPr>
            <a:xfrm>
              <a:off x="0" y="0"/>
              <a:ext cx="3471547" cy="1329318"/>
            </a:xfrm>
            <a:custGeom>
              <a:avLst/>
              <a:gdLst/>
              <a:ahLst/>
              <a:cxnLst/>
              <a:rect l="l" t="t" r="r" b="b"/>
              <a:pathLst>
                <a:path w="3471547" h="1329318">
                  <a:moveTo>
                    <a:pt x="0" y="0"/>
                  </a:moveTo>
                  <a:lnTo>
                    <a:pt x="3471547" y="0"/>
                  </a:lnTo>
                  <a:lnTo>
                    <a:pt x="3471547" y="1329318"/>
                  </a:lnTo>
                  <a:lnTo>
                    <a:pt x="0" y="1329318"/>
                  </a:lnTo>
                  <a:close/>
                </a:path>
              </a:pathLst>
            </a:custGeom>
            <a:solidFill>
              <a:srgbClr val="0B5298"/>
            </a:solidFill>
          </p:spPr>
          <p:txBody>
            <a:bodyPr/>
            <a:lstStyle/>
            <a:p>
              <a:endParaRPr lang="en-US"/>
            </a:p>
          </p:txBody>
        </p:sp>
        <p:sp>
          <p:nvSpPr>
            <p:cNvPr id="4" name="TextBox 4">
              <a:extLst>
                <a:ext uri="{FF2B5EF4-FFF2-40B4-BE49-F238E27FC236}">
                  <a16:creationId xmlns:a16="http://schemas.microsoft.com/office/drawing/2014/main" id="{145A1A7D-9F83-1745-D933-76C96757B6A1}"/>
                </a:ext>
              </a:extLst>
            </p:cNvPr>
            <p:cNvSpPr txBox="1"/>
            <p:nvPr/>
          </p:nvSpPr>
          <p:spPr>
            <a:xfrm>
              <a:off x="0" y="-76200"/>
              <a:ext cx="3471547" cy="1405518"/>
            </a:xfrm>
            <a:prstGeom prst="rect">
              <a:avLst/>
            </a:prstGeom>
          </p:spPr>
          <p:txBody>
            <a:bodyPr lIns="50800" tIns="50800" rIns="50800" bIns="50800" rtlCol="0" anchor="ctr"/>
            <a:lstStyle/>
            <a:p>
              <a:pPr marL="0" lvl="0" indent="0" algn="ctr">
                <a:lnSpc>
                  <a:spcPts val="2659"/>
                </a:lnSpc>
              </a:pPr>
              <a:endParaRPr/>
            </a:p>
          </p:txBody>
        </p:sp>
      </p:grpSp>
      <p:sp>
        <p:nvSpPr>
          <p:cNvPr id="5" name="Freeform 5">
            <a:extLst>
              <a:ext uri="{FF2B5EF4-FFF2-40B4-BE49-F238E27FC236}">
                <a16:creationId xmlns:a16="http://schemas.microsoft.com/office/drawing/2014/main" id="{D764C0A3-7FE9-426D-A697-E1BB5DB15A3D}"/>
              </a:ext>
            </a:extLst>
          </p:cNvPr>
          <p:cNvSpPr/>
          <p:nvPr/>
        </p:nvSpPr>
        <p:spPr>
          <a:xfrm>
            <a:off x="-442614" y="6286303"/>
            <a:ext cx="2114182" cy="4291608"/>
          </a:xfrm>
          <a:custGeom>
            <a:avLst/>
            <a:gdLst/>
            <a:ahLst/>
            <a:cxnLst/>
            <a:rect l="l" t="t" r="r" b="b"/>
            <a:pathLst>
              <a:path w="2114182" h="4291608">
                <a:moveTo>
                  <a:pt x="0" y="0"/>
                </a:moveTo>
                <a:lnTo>
                  <a:pt x="2114181" y="0"/>
                </a:lnTo>
                <a:lnTo>
                  <a:pt x="2114181" y="4291609"/>
                </a:lnTo>
                <a:lnTo>
                  <a:pt x="0" y="4291609"/>
                </a:lnTo>
                <a:lnTo>
                  <a:pt x="0" y="0"/>
                </a:lnTo>
                <a:close/>
              </a:path>
            </a:pathLst>
          </a:custGeom>
          <a:blipFill>
            <a:blip r:embed="rId2"/>
            <a:stretch>
              <a:fillRect/>
            </a:stretch>
          </a:blipFill>
        </p:spPr>
        <p:txBody>
          <a:bodyPr/>
          <a:lstStyle/>
          <a:p>
            <a:endParaRPr lang="en-US"/>
          </a:p>
        </p:txBody>
      </p:sp>
      <p:grpSp>
        <p:nvGrpSpPr>
          <p:cNvPr id="6" name="Group 6">
            <a:extLst>
              <a:ext uri="{FF2B5EF4-FFF2-40B4-BE49-F238E27FC236}">
                <a16:creationId xmlns:a16="http://schemas.microsoft.com/office/drawing/2014/main" id="{22849142-0EA1-6D3D-3A31-4C55B50BED89}"/>
              </a:ext>
            </a:extLst>
          </p:cNvPr>
          <p:cNvGrpSpPr/>
          <p:nvPr/>
        </p:nvGrpSpPr>
        <p:grpSpPr>
          <a:xfrm rot="-4319721">
            <a:off x="11697485" y="6169918"/>
            <a:ext cx="13181030" cy="4290457"/>
            <a:chOff x="0" y="0"/>
            <a:chExt cx="3471547" cy="1129997"/>
          </a:xfrm>
        </p:grpSpPr>
        <p:sp>
          <p:nvSpPr>
            <p:cNvPr id="7" name="Freeform 7">
              <a:extLst>
                <a:ext uri="{FF2B5EF4-FFF2-40B4-BE49-F238E27FC236}">
                  <a16:creationId xmlns:a16="http://schemas.microsoft.com/office/drawing/2014/main" id="{049C2963-0BB5-9F86-5B09-98FDEBB0A8C8}"/>
                </a:ext>
              </a:extLst>
            </p:cNvPr>
            <p:cNvSpPr/>
            <p:nvPr/>
          </p:nvSpPr>
          <p:spPr>
            <a:xfrm>
              <a:off x="0" y="0"/>
              <a:ext cx="3471547" cy="1129997"/>
            </a:xfrm>
            <a:custGeom>
              <a:avLst/>
              <a:gdLst/>
              <a:ahLst/>
              <a:cxnLst/>
              <a:rect l="l" t="t" r="r" b="b"/>
              <a:pathLst>
                <a:path w="3471547" h="1129997">
                  <a:moveTo>
                    <a:pt x="0" y="0"/>
                  </a:moveTo>
                  <a:lnTo>
                    <a:pt x="3471547" y="0"/>
                  </a:lnTo>
                  <a:lnTo>
                    <a:pt x="3471547" y="1129997"/>
                  </a:lnTo>
                  <a:lnTo>
                    <a:pt x="0" y="1129997"/>
                  </a:lnTo>
                  <a:close/>
                </a:path>
              </a:pathLst>
            </a:custGeom>
            <a:solidFill>
              <a:srgbClr val="0B5298"/>
            </a:solidFill>
          </p:spPr>
          <p:txBody>
            <a:bodyPr/>
            <a:lstStyle/>
            <a:p>
              <a:endParaRPr lang="en-US"/>
            </a:p>
          </p:txBody>
        </p:sp>
        <p:sp>
          <p:nvSpPr>
            <p:cNvPr id="8" name="TextBox 8">
              <a:extLst>
                <a:ext uri="{FF2B5EF4-FFF2-40B4-BE49-F238E27FC236}">
                  <a16:creationId xmlns:a16="http://schemas.microsoft.com/office/drawing/2014/main" id="{BF875603-8504-BF2D-8EB1-A2116367E7F9}"/>
                </a:ext>
              </a:extLst>
            </p:cNvPr>
            <p:cNvSpPr txBox="1"/>
            <p:nvPr/>
          </p:nvSpPr>
          <p:spPr>
            <a:xfrm>
              <a:off x="0" y="-76200"/>
              <a:ext cx="3471547" cy="1206197"/>
            </a:xfrm>
            <a:prstGeom prst="rect">
              <a:avLst/>
            </a:prstGeom>
          </p:spPr>
          <p:txBody>
            <a:bodyPr lIns="50800" tIns="50800" rIns="50800" bIns="50800" rtlCol="0" anchor="ctr"/>
            <a:lstStyle/>
            <a:p>
              <a:pPr marL="0" lvl="0" indent="0" algn="ctr">
                <a:lnSpc>
                  <a:spcPts val="2659"/>
                </a:lnSpc>
              </a:pPr>
              <a:endParaRPr/>
            </a:p>
          </p:txBody>
        </p:sp>
      </p:grpSp>
      <p:sp>
        <p:nvSpPr>
          <p:cNvPr id="9" name="Freeform 9">
            <a:extLst>
              <a:ext uri="{FF2B5EF4-FFF2-40B4-BE49-F238E27FC236}">
                <a16:creationId xmlns:a16="http://schemas.microsoft.com/office/drawing/2014/main" id="{ECFA3772-3422-3AF4-8E48-97D7CC7C49E2}"/>
              </a:ext>
            </a:extLst>
          </p:cNvPr>
          <p:cNvSpPr/>
          <p:nvPr/>
        </p:nvSpPr>
        <p:spPr>
          <a:xfrm>
            <a:off x="-734405" y="-1009042"/>
            <a:ext cx="4436419" cy="4824276"/>
          </a:xfrm>
          <a:custGeom>
            <a:avLst/>
            <a:gdLst/>
            <a:ahLst/>
            <a:cxnLst/>
            <a:rect l="l" t="t" r="r" b="b"/>
            <a:pathLst>
              <a:path w="4436419" h="4824276">
                <a:moveTo>
                  <a:pt x="0" y="0"/>
                </a:moveTo>
                <a:lnTo>
                  <a:pt x="4436419" y="0"/>
                </a:lnTo>
                <a:lnTo>
                  <a:pt x="4436419" y="4824276"/>
                </a:lnTo>
                <a:lnTo>
                  <a:pt x="0" y="482427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0" name="Freeform 10">
            <a:extLst>
              <a:ext uri="{FF2B5EF4-FFF2-40B4-BE49-F238E27FC236}">
                <a16:creationId xmlns:a16="http://schemas.microsoft.com/office/drawing/2014/main" id="{26525EC6-F7B1-F178-0A9A-AA3A598FFB82}"/>
              </a:ext>
            </a:extLst>
          </p:cNvPr>
          <p:cNvSpPr/>
          <p:nvPr/>
        </p:nvSpPr>
        <p:spPr>
          <a:xfrm flipH="1" flipV="1">
            <a:off x="14470870" y="6490580"/>
            <a:ext cx="4436419" cy="4824276"/>
          </a:xfrm>
          <a:custGeom>
            <a:avLst/>
            <a:gdLst/>
            <a:ahLst/>
            <a:cxnLst/>
            <a:rect l="l" t="t" r="r" b="b"/>
            <a:pathLst>
              <a:path w="4436419" h="4824276">
                <a:moveTo>
                  <a:pt x="4436419" y="4824276"/>
                </a:moveTo>
                <a:lnTo>
                  <a:pt x="0" y="4824276"/>
                </a:lnTo>
                <a:lnTo>
                  <a:pt x="0" y="0"/>
                </a:lnTo>
                <a:lnTo>
                  <a:pt x="4436419" y="0"/>
                </a:lnTo>
                <a:lnTo>
                  <a:pt x="4436419" y="4824276"/>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1" name="Freeform 11">
            <a:extLst>
              <a:ext uri="{FF2B5EF4-FFF2-40B4-BE49-F238E27FC236}">
                <a16:creationId xmlns:a16="http://schemas.microsoft.com/office/drawing/2014/main" id="{F1AC5E97-32A3-7313-E8C4-7114A3D800DD}"/>
              </a:ext>
            </a:extLst>
          </p:cNvPr>
          <p:cNvSpPr/>
          <p:nvPr/>
        </p:nvSpPr>
        <p:spPr>
          <a:xfrm>
            <a:off x="-64837" y="8060016"/>
            <a:ext cx="2312531" cy="2312531"/>
          </a:xfrm>
          <a:custGeom>
            <a:avLst/>
            <a:gdLst/>
            <a:ahLst/>
            <a:cxnLst/>
            <a:rect l="l" t="t" r="r" b="b"/>
            <a:pathLst>
              <a:path w="2312531" h="2312531">
                <a:moveTo>
                  <a:pt x="0" y="0"/>
                </a:moveTo>
                <a:lnTo>
                  <a:pt x="2312531" y="0"/>
                </a:lnTo>
                <a:lnTo>
                  <a:pt x="2312531" y="2312531"/>
                </a:lnTo>
                <a:lnTo>
                  <a:pt x="0" y="231253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2" name="Freeform 12">
            <a:extLst>
              <a:ext uri="{FF2B5EF4-FFF2-40B4-BE49-F238E27FC236}">
                <a16:creationId xmlns:a16="http://schemas.microsoft.com/office/drawing/2014/main" id="{A9EA67E7-2904-7679-EEA8-56AF3EF63256}"/>
              </a:ext>
            </a:extLst>
          </p:cNvPr>
          <p:cNvSpPr/>
          <p:nvPr/>
        </p:nvSpPr>
        <p:spPr>
          <a:xfrm flipH="1" flipV="1">
            <a:off x="16546204" y="-618883"/>
            <a:ext cx="2114182" cy="4291608"/>
          </a:xfrm>
          <a:custGeom>
            <a:avLst/>
            <a:gdLst/>
            <a:ahLst/>
            <a:cxnLst/>
            <a:rect l="l" t="t" r="r" b="b"/>
            <a:pathLst>
              <a:path w="2114182" h="4291608">
                <a:moveTo>
                  <a:pt x="2114182" y="4291608"/>
                </a:moveTo>
                <a:lnTo>
                  <a:pt x="0" y="4291608"/>
                </a:lnTo>
                <a:lnTo>
                  <a:pt x="0" y="0"/>
                </a:lnTo>
                <a:lnTo>
                  <a:pt x="2114182" y="0"/>
                </a:lnTo>
                <a:lnTo>
                  <a:pt x="2114182" y="4291608"/>
                </a:lnTo>
                <a:close/>
              </a:path>
            </a:pathLst>
          </a:custGeom>
          <a:blipFill>
            <a:blip r:embed="rId2"/>
            <a:stretch>
              <a:fillRect/>
            </a:stretch>
          </a:blipFill>
        </p:spPr>
        <p:txBody>
          <a:bodyPr/>
          <a:lstStyle/>
          <a:p>
            <a:endParaRPr lang="en-US"/>
          </a:p>
        </p:txBody>
      </p:sp>
      <p:sp>
        <p:nvSpPr>
          <p:cNvPr id="13" name="Freeform 13">
            <a:extLst>
              <a:ext uri="{FF2B5EF4-FFF2-40B4-BE49-F238E27FC236}">
                <a16:creationId xmlns:a16="http://schemas.microsoft.com/office/drawing/2014/main" id="{EB93FEE3-9598-C97F-E99E-E6561D837DF1}"/>
              </a:ext>
            </a:extLst>
          </p:cNvPr>
          <p:cNvSpPr/>
          <p:nvPr/>
        </p:nvSpPr>
        <p:spPr>
          <a:xfrm flipH="1" flipV="1">
            <a:off x="15975469" y="-127566"/>
            <a:ext cx="2312531" cy="2312531"/>
          </a:xfrm>
          <a:custGeom>
            <a:avLst/>
            <a:gdLst/>
            <a:ahLst/>
            <a:cxnLst/>
            <a:rect l="l" t="t" r="r" b="b"/>
            <a:pathLst>
              <a:path w="2312531" h="2312531">
                <a:moveTo>
                  <a:pt x="2312531" y="2312532"/>
                </a:moveTo>
                <a:lnTo>
                  <a:pt x="0" y="2312532"/>
                </a:lnTo>
                <a:lnTo>
                  <a:pt x="0" y="0"/>
                </a:lnTo>
                <a:lnTo>
                  <a:pt x="2312531" y="0"/>
                </a:lnTo>
                <a:lnTo>
                  <a:pt x="2312531" y="2312532"/>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pic>
        <p:nvPicPr>
          <p:cNvPr id="24" name="Picture 23">
            <a:extLst>
              <a:ext uri="{FF2B5EF4-FFF2-40B4-BE49-F238E27FC236}">
                <a16:creationId xmlns:a16="http://schemas.microsoft.com/office/drawing/2014/main" id="{281E1B8D-D5D6-39B6-E6B9-80890C6486B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436307" y="362911"/>
            <a:ext cx="11332717" cy="9491617"/>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18874739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4319721">
            <a:off x="-7033129" y="-1139345"/>
            <a:ext cx="13181030" cy="5047255"/>
            <a:chOff x="0" y="0"/>
            <a:chExt cx="3471547" cy="1329318"/>
          </a:xfrm>
        </p:grpSpPr>
        <p:sp>
          <p:nvSpPr>
            <p:cNvPr id="3" name="Freeform 3"/>
            <p:cNvSpPr/>
            <p:nvPr/>
          </p:nvSpPr>
          <p:spPr>
            <a:xfrm>
              <a:off x="0" y="0"/>
              <a:ext cx="3471547" cy="1329318"/>
            </a:xfrm>
            <a:custGeom>
              <a:avLst/>
              <a:gdLst/>
              <a:ahLst/>
              <a:cxnLst/>
              <a:rect l="l" t="t" r="r" b="b"/>
              <a:pathLst>
                <a:path w="3471547" h="1329318">
                  <a:moveTo>
                    <a:pt x="0" y="0"/>
                  </a:moveTo>
                  <a:lnTo>
                    <a:pt x="3471547" y="0"/>
                  </a:lnTo>
                  <a:lnTo>
                    <a:pt x="3471547" y="1329318"/>
                  </a:lnTo>
                  <a:lnTo>
                    <a:pt x="0" y="1329318"/>
                  </a:lnTo>
                  <a:close/>
                </a:path>
              </a:pathLst>
            </a:custGeom>
            <a:solidFill>
              <a:srgbClr val="0B5298"/>
            </a:solidFill>
          </p:spPr>
          <p:txBody>
            <a:bodyPr/>
            <a:lstStyle/>
            <a:p>
              <a:endParaRPr lang="en-US"/>
            </a:p>
          </p:txBody>
        </p:sp>
        <p:sp>
          <p:nvSpPr>
            <p:cNvPr id="4" name="TextBox 4"/>
            <p:cNvSpPr txBox="1"/>
            <p:nvPr/>
          </p:nvSpPr>
          <p:spPr>
            <a:xfrm>
              <a:off x="0" y="-76200"/>
              <a:ext cx="3471547" cy="1405518"/>
            </a:xfrm>
            <a:prstGeom prst="rect">
              <a:avLst/>
            </a:prstGeom>
          </p:spPr>
          <p:txBody>
            <a:bodyPr lIns="50800" tIns="50800" rIns="50800" bIns="50800" rtlCol="0" anchor="ctr"/>
            <a:lstStyle/>
            <a:p>
              <a:pPr marL="0" lvl="0" indent="0" algn="ctr">
                <a:lnSpc>
                  <a:spcPts val="2659"/>
                </a:lnSpc>
              </a:pPr>
              <a:endParaRPr/>
            </a:p>
          </p:txBody>
        </p:sp>
      </p:grpSp>
      <p:sp>
        <p:nvSpPr>
          <p:cNvPr id="5" name="Freeform 5"/>
          <p:cNvSpPr/>
          <p:nvPr/>
        </p:nvSpPr>
        <p:spPr>
          <a:xfrm>
            <a:off x="-442614" y="6286303"/>
            <a:ext cx="2114182" cy="4291608"/>
          </a:xfrm>
          <a:custGeom>
            <a:avLst/>
            <a:gdLst/>
            <a:ahLst/>
            <a:cxnLst/>
            <a:rect l="l" t="t" r="r" b="b"/>
            <a:pathLst>
              <a:path w="2114182" h="4291608">
                <a:moveTo>
                  <a:pt x="0" y="0"/>
                </a:moveTo>
                <a:lnTo>
                  <a:pt x="2114181" y="0"/>
                </a:lnTo>
                <a:lnTo>
                  <a:pt x="2114181" y="4291609"/>
                </a:lnTo>
                <a:lnTo>
                  <a:pt x="0" y="4291609"/>
                </a:lnTo>
                <a:lnTo>
                  <a:pt x="0" y="0"/>
                </a:lnTo>
                <a:close/>
              </a:path>
            </a:pathLst>
          </a:custGeom>
          <a:blipFill>
            <a:blip r:embed="rId2"/>
            <a:stretch>
              <a:fillRect/>
            </a:stretch>
          </a:blipFill>
        </p:spPr>
        <p:txBody>
          <a:bodyPr/>
          <a:lstStyle/>
          <a:p>
            <a:endParaRPr lang="en-US"/>
          </a:p>
        </p:txBody>
      </p:sp>
      <p:grpSp>
        <p:nvGrpSpPr>
          <p:cNvPr id="6" name="Group 6"/>
          <p:cNvGrpSpPr/>
          <p:nvPr/>
        </p:nvGrpSpPr>
        <p:grpSpPr>
          <a:xfrm rot="-4319721">
            <a:off x="11697485" y="6169918"/>
            <a:ext cx="13181030" cy="4290457"/>
            <a:chOff x="0" y="0"/>
            <a:chExt cx="3471547" cy="1129997"/>
          </a:xfrm>
        </p:grpSpPr>
        <p:sp>
          <p:nvSpPr>
            <p:cNvPr id="7" name="Freeform 7"/>
            <p:cNvSpPr/>
            <p:nvPr/>
          </p:nvSpPr>
          <p:spPr>
            <a:xfrm>
              <a:off x="0" y="0"/>
              <a:ext cx="3471547" cy="1129997"/>
            </a:xfrm>
            <a:custGeom>
              <a:avLst/>
              <a:gdLst/>
              <a:ahLst/>
              <a:cxnLst/>
              <a:rect l="l" t="t" r="r" b="b"/>
              <a:pathLst>
                <a:path w="3471547" h="1129997">
                  <a:moveTo>
                    <a:pt x="0" y="0"/>
                  </a:moveTo>
                  <a:lnTo>
                    <a:pt x="3471547" y="0"/>
                  </a:lnTo>
                  <a:lnTo>
                    <a:pt x="3471547" y="1129997"/>
                  </a:lnTo>
                  <a:lnTo>
                    <a:pt x="0" y="1129997"/>
                  </a:lnTo>
                  <a:close/>
                </a:path>
              </a:pathLst>
            </a:custGeom>
            <a:solidFill>
              <a:srgbClr val="0B5298"/>
            </a:solidFill>
          </p:spPr>
          <p:txBody>
            <a:bodyPr/>
            <a:lstStyle/>
            <a:p>
              <a:endParaRPr lang="en-US"/>
            </a:p>
          </p:txBody>
        </p:sp>
        <p:sp>
          <p:nvSpPr>
            <p:cNvPr id="8" name="TextBox 8"/>
            <p:cNvSpPr txBox="1"/>
            <p:nvPr/>
          </p:nvSpPr>
          <p:spPr>
            <a:xfrm>
              <a:off x="0" y="-76200"/>
              <a:ext cx="3471547" cy="1206197"/>
            </a:xfrm>
            <a:prstGeom prst="rect">
              <a:avLst/>
            </a:prstGeom>
          </p:spPr>
          <p:txBody>
            <a:bodyPr lIns="50800" tIns="50800" rIns="50800" bIns="50800" rtlCol="0" anchor="ctr"/>
            <a:lstStyle/>
            <a:p>
              <a:pPr marL="0" lvl="0" indent="0" algn="ctr">
                <a:lnSpc>
                  <a:spcPts val="2659"/>
                </a:lnSpc>
              </a:pPr>
              <a:endParaRPr/>
            </a:p>
          </p:txBody>
        </p:sp>
      </p:grpSp>
      <p:sp>
        <p:nvSpPr>
          <p:cNvPr id="9" name="Freeform 9"/>
          <p:cNvSpPr/>
          <p:nvPr/>
        </p:nvSpPr>
        <p:spPr>
          <a:xfrm>
            <a:off x="-734405" y="-1009042"/>
            <a:ext cx="4436419" cy="4824276"/>
          </a:xfrm>
          <a:custGeom>
            <a:avLst/>
            <a:gdLst/>
            <a:ahLst/>
            <a:cxnLst/>
            <a:rect l="l" t="t" r="r" b="b"/>
            <a:pathLst>
              <a:path w="4436419" h="4824276">
                <a:moveTo>
                  <a:pt x="0" y="0"/>
                </a:moveTo>
                <a:lnTo>
                  <a:pt x="4436419" y="0"/>
                </a:lnTo>
                <a:lnTo>
                  <a:pt x="4436419" y="4824276"/>
                </a:lnTo>
                <a:lnTo>
                  <a:pt x="0" y="482427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0" name="Freeform 10"/>
          <p:cNvSpPr/>
          <p:nvPr/>
        </p:nvSpPr>
        <p:spPr>
          <a:xfrm flipH="1" flipV="1">
            <a:off x="14470870" y="6490580"/>
            <a:ext cx="4436419" cy="4824276"/>
          </a:xfrm>
          <a:custGeom>
            <a:avLst/>
            <a:gdLst/>
            <a:ahLst/>
            <a:cxnLst/>
            <a:rect l="l" t="t" r="r" b="b"/>
            <a:pathLst>
              <a:path w="4436419" h="4824276">
                <a:moveTo>
                  <a:pt x="4436419" y="4824276"/>
                </a:moveTo>
                <a:lnTo>
                  <a:pt x="0" y="4824276"/>
                </a:lnTo>
                <a:lnTo>
                  <a:pt x="0" y="0"/>
                </a:lnTo>
                <a:lnTo>
                  <a:pt x="4436419" y="0"/>
                </a:lnTo>
                <a:lnTo>
                  <a:pt x="4436419" y="4824276"/>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1" name="Freeform 11"/>
          <p:cNvSpPr/>
          <p:nvPr/>
        </p:nvSpPr>
        <p:spPr>
          <a:xfrm>
            <a:off x="-64837" y="8060016"/>
            <a:ext cx="2312531" cy="2312531"/>
          </a:xfrm>
          <a:custGeom>
            <a:avLst/>
            <a:gdLst/>
            <a:ahLst/>
            <a:cxnLst/>
            <a:rect l="l" t="t" r="r" b="b"/>
            <a:pathLst>
              <a:path w="2312531" h="2312531">
                <a:moveTo>
                  <a:pt x="0" y="0"/>
                </a:moveTo>
                <a:lnTo>
                  <a:pt x="2312531" y="0"/>
                </a:lnTo>
                <a:lnTo>
                  <a:pt x="2312531" y="2312531"/>
                </a:lnTo>
                <a:lnTo>
                  <a:pt x="0" y="231253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2" name="Freeform 12"/>
          <p:cNvSpPr/>
          <p:nvPr/>
        </p:nvSpPr>
        <p:spPr>
          <a:xfrm flipH="1" flipV="1">
            <a:off x="16546204" y="-618883"/>
            <a:ext cx="2114182" cy="4291608"/>
          </a:xfrm>
          <a:custGeom>
            <a:avLst/>
            <a:gdLst/>
            <a:ahLst/>
            <a:cxnLst/>
            <a:rect l="l" t="t" r="r" b="b"/>
            <a:pathLst>
              <a:path w="2114182" h="4291608">
                <a:moveTo>
                  <a:pt x="2114182" y="4291608"/>
                </a:moveTo>
                <a:lnTo>
                  <a:pt x="0" y="4291608"/>
                </a:lnTo>
                <a:lnTo>
                  <a:pt x="0" y="0"/>
                </a:lnTo>
                <a:lnTo>
                  <a:pt x="2114182" y="0"/>
                </a:lnTo>
                <a:lnTo>
                  <a:pt x="2114182" y="4291608"/>
                </a:lnTo>
                <a:close/>
              </a:path>
            </a:pathLst>
          </a:custGeom>
          <a:blipFill>
            <a:blip r:embed="rId2"/>
            <a:stretch>
              <a:fillRect/>
            </a:stretch>
          </a:blipFill>
        </p:spPr>
        <p:txBody>
          <a:bodyPr/>
          <a:lstStyle/>
          <a:p>
            <a:endParaRPr lang="en-US"/>
          </a:p>
        </p:txBody>
      </p:sp>
      <p:sp>
        <p:nvSpPr>
          <p:cNvPr id="13" name="Freeform 13"/>
          <p:cNvSpPr/>
          <p:nvPr/>
        </p:nvSpPr>
        <p:spPr>
          <a:xfrm flipH="1" flipV="1">
            <a:off x="15975469" y="-127566"/>
            <a:ext cx="2312531" cy="2312531"/>
          </a:xfrm>
          <a:custGeom>
            <a:avLst/>
            <a:gdLst/>
            <a:ahLst/>
            <a:cxnLst/>
            <a:rect l="l" t="t" r="r" b="b"/>
            <a:pathLst>
              <a:path w="2312531" h="2312531">
                <a:moveTo>
                  <a:pt x="2312531" y="2312532"/>
                </a:moveTo>
                <a:lnTo>
                  <a:pt x="0" y="2312532"/>
                </a:lnTo>
                <a:lnTo>
                  <a:pt x="0" y="0"/>
                </a:lnTo>
                <a:lnTo>
                  <a:pt x="2312531" y="0"/>
                </a:lnTo>
                <a:lnTo>
                  <a:pt x="2312531" y="2312532"/>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4" name="TextBox 14"/>
          <p:cNvSpPr txBox="1"/>
          <p:nvPr/>
        </p:nvSpPr>
        <p:spPr>
          <a:xfrm>
            <a:off x="3669977" y="6038235"/>
            <a:ext cx="10948045" cy="1517525"/>
          </a:xfrm>
          <a:prstGeom prst="rect">
            <a:avLst/>
          </a:prstGeom>
        </p:spPr>
        <p:txBody>
          <a:bodyPr lIns="0" tIns="0" rIns="0" bIns="0" rtlCol="0" anchor="t">
            <a:spAutoFit/>
          </a:bodyPr>
          <a:lstStyle/>
          <a:p>
            <a:pPr marL="0" lvl="0" indent="0" algn="just">
              <a:lnSpc>
                <a:spcPts val="2981"/>
              </a:lnSpc>
            </a:pPr>
            <a:r>
              <a:rPr lang="en-US" sz="2129">
                <a:solidFill>
                  <a:srgbClr val="454B5D"/>
                </a:solidFill>
                <a:latin typeface="ITC Avant Garde Gothic"/>
                <a:ea typeface="ITC Avant Garde Gothic"/>
                <a:cs typeface="ITC Avant Garde Gothic"/>
                <a:sym typeface="ITC Avant Garde Gothic"/>
              </a:rPr>
              <a:t>The system provides a foundation for future enhancements, including additional specialized agents, expanded threat detection capabilities, and integration with real-world security tools. This project showcases how OOP principles create scalable, maintainable solutions.</a:t>
            </a:r>
          </a:p>
        </p:txBody>
      </p:sp>
      <p:sp>
        <p:nvSpPr>
          <p:cNvPr id="15" name="TextBox 15"/>
          <p:cNvSpPr txBox="1"/>
          <p:nvPr/>
        </p:nvSpPr>
        <p:spPr>
          <a:xfrm>
            <a:off x="3632763" y="4195714"/>
            <a:ext cx="11022474" cy="1517525"/>
          </a:xfrm>
          <a:prstGeom prst="rect">
            <a:avLst/>
          </a:prstGeom>
        </p:spPr>
        <p:txBody>
          <a:bodyPr lIns="0" tIns="0" rIns="0" bIns="0" rtlCol="0" anchor="t">
            <a:spAutoFit/>
          </a:bodyPr>
          <a:lstStyle/>
          <a:p>
            <a:pPr marL="0" lvl="0" indent="0" algn="just">
              <a:lnSpc>
                <a:spcPts val="2981"/>
              </a:lnSpc>
            </a:pPr>
            <a:r>
              <a:rPr lang="en-US" sz="2129">
                <a:solidFill>
                  <a:srgbClr val="454B5D"/>
                </a:solidFill>
                <a:latin typeface="ITC Avant Garde Gothic"/>
                <a:ea typeface="ITC Avant Garde Gothic"/>
                <a:cs typeface="ITC Avant Garde Gothic"/>
                <a:sym typeface="ITC Avant Garde Gothic"/>
              </a:rPr>
              <a:t>The CyberShield System demonstrates the practical application of Object-Oriented Programming concepts in cybersecurity. Our multi-agent architecture simplifies complex task management for a single user, enabling effective detection and response to security threats.</a:t>
            </a:r>
          </a:p>
        </p:txBody>
      </p:sp>
      <p:sp>
        <p:nvSpPr>
          <p:cNvPr id="16" name="TextBox 16"/>
          <p:cNvSpPr txBox="1"/>
          <p:nvPr/>
        </p:nvSpPr>
        <p:spPr>
          <a:xfrm>
            <a:off x="4077268" y="1936491"/>
            <a:ext cx="10133464" cy="1029694"/>
          </a:xfrm>
          <a:prstGeom prst="rect">
            <a:avLst/>
          </a:prstGeom>
        </p:spPr>
        <p:txBody>
          <a:bodyPr lIns="0" tIns="0" rIns="0" bIns="0" rtlCol="0" anchor="t">
            <a:spAutoFit/>
          </a:bodyPr>
          <a:lstStyle/>
          <a:p>
            <a:pPr marL="0" lvl="0" indent="0" algn="ctr">
              <a:lnSpc>
                <a:spcPts val="7215"/>
              </a:lnSpc>
            </a:pPr>
            <a:r>
              <a:rPr lang="en-US" sz="9019" b="1">
                <a:solidFill>
                  <a:srgbClr val="454B5D"/>
                </a:solidFill>
                <a:latin typeface="League Spartan"/>
                <a:ea typeface="League Spartan"/>
                <a:cs typeface="League Spartan"/>
                <a:sym typeface="League Spartan"/>
              </a:rPr>
              <a:t>CONCLUSION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4319721">
            <a:off x="-7033129" y="-1139345"/>
            <a:ext cx="13181030" cy="5047255"/>
            <a:chOff x="0" y="0"/>
            <a:chExt cx="3471547" cy="1329318"/>
          </a:xfrm>
        </p:grpSpPr>
        <p:sp>
          <p:nvSpPr>
            <p:cNvPr id="3" name="Freeform 3"/>
            <p:cNvSpPr/>
            <p:nvPr/>
          </p:nvSpPr>
          <p:spPr>
            <a:xfrm>
              <a:off x="0" y="0"/>
              <a:ext cx="3471547" cy="1329318"/>
            </a:xfrm>
            <a:custGeom>
              <a:avLst/>
              <a:gdLst/>
              <a:ahLst/>
              <a:cxnLst/>
              <a:rect l="l" t="t" r="r" b="b"/>
              <a:pathLst>
                <a:path w="3471547" h="1329318">
                  <a:moveTo>
                    <a:pt x="0" y="0"/>
                  </a:moveTo>
                  <a:lnTo>
                    <a:pt x="3471547" y="0"/>
                  </a:lnTo>
                  <a:lnTo>
                    <a:pt x="3471547" y="1329318"/>
                  </a:lnTo>
                  <a:lnTo>
                    <a:pt x="0" y="1329318"/>
                  </a:lnTo>
                  <a:close/>
                </a:path>
              </a:pathLst>
            </a:custGeom>
            <a:solidFill>
              <a:srgbClr val="0B5298"/>
            </a:solidFill>
          </p:spPr>
          <p:txBody>
            <a:bodyPr/>
            <a:lstStyle/>
            <a:p>
              <a:endParaRPr lang="en-US"/>
            </a:p>
          </p:txBody>
        </p:sp>
        <p:sp>
          <p:nvSpPr>
            <p:cNvPr id="4" name="TextBox 4"/>
            <p:cNvSpPr txBox="1"/>
            <p:nvPr/>
          </p:nvSpPr>
          <p:spPr>
            <a:xfrm>
              <a:off x="0" y="-76200"/>
              <a:ext cx="3471547" cy="1405518"/>
            </a:xfrm>
            <a:prstGeom prst="rect">
              <a:avLst/>
            </a:prstGeom>
          </p:spPr>
          <p:txBody>
            <a:bodyPr lIns="50800" tIns="50800" rIns="50800" bIns="50800" rtlCol="0" anchor="ctr"/>
            <a:lstStyle/>
            <a:p>
              <a:pPr marL="0" lvl="0" indent="0" algn="ctr">
                <a:lnSpc>
                  <a:spcPts val="2659"/>
                </a:lnSpc>
              </a:pPr>
              <a:endParaRPr/>
            </a:p>
          </p:txBody>
        </p:sp>
      </p:grpSp>
      <p:sp>
        <p:nvSpPr>
          <p:cNvPr id="5" name="Freeform 5"/>
          <p:cNvSpPr/>
          <p:nvPr/>
        </p:nvSpPr>
        <p:spPr>
          <a:xfrm>
            <a:off x="-442614" y="6286303"/>
            <a:ext cx="2114182" cy="4291608"/>
          </a:xfrm>
          <a:custGeom>
            <a:avLst/>
            <a:gdLst/>
            <a:ahLst/>
            <a:cxnLst/>
            <a:rect l="l" t="t" r="r" b="b"/>
            <a:pathLst>
              <a:path w="2114182" h="4291608">
                <a:moveTo>
                  <a:pt x="0" y="0"/>
                </a:moveTo>
                <a:lnTo>
                  <a:pt x="2114181" y="0"/>
                </a:lnTo>
                <a:lnTo>
                  <a:pt x="2114181" y="4291609"/>
                </a:lnTo>
                <a:lnTo>
                  <a:pt x="0" y="4291609"/>
                </a:lnTo>
                <a:lnTo>
                  <a:pt x="0" y="0"/>
                </a:lnTo>
                <a:close/>
              </a:path>
            </a:pathLst>
          </a:custGeom>
          <a:blipFill>
            <a:blip r:embed="rId2"/>
            <a:stretch>
              <a:fillRect/>
            </a:stretch>
          </a:blipFill>
        </p:spPr>
        <p:txBody>
          <a:bodyPr/>
          <a:lstStyle/>
          <a:p>
            <a:endParaRPr lang="en-US"/>
          </a:p>
        </p:txBody>
      </p:sp>
      <p:grpSp>
        <p:nvGrpSpPr>
          <p:cNvPr id="6" name="Group 6"/>
          <p:cNvGrpSpPr/>
          <p:nvPr/>
        </p:nvGrpSpPr>
        <p:grpSpPr>
          <a:xfrm rot="-4319721">
            <a:off x="11697485" y="6169918"/>
            <a:ext cx="13181030" cy="4290457"/>
            <a:chOff x="0" y="0"/>
            <a:chExt cx="3471547" cy="1129997"/>
          </a:xfrm>
        </p:grpSpPr>
        <p:sp>
          <p:nvSpPr>
            <p:cNvPr id="7" name="Freeform 7"/>
            <p:cNvSpPr/>
            <p:nvPr/>
          </p:nvSpPr>
          <p:spPr>
            <a:xfrm>
              <a:off x="0" y="0"/>
              <a:ext cx="3471547" cy="1129997"/>
            </a:xfrm>
            <a:custGeom>
              <a:avLst/>
              <a:gdLst/>
              <a:ahLst/>
              <a:cxnLst/>
              <a:rect l="l" t="t" r="r" b="b"/>
              <a:pathLst>
                <a:path w="3471547" h="1129997">
                  <a:moveTo>
                    <a:pt x="0" y="0"/>
                  </a:moveTo>
                  <a:lnTo>
                    <a:pt x="3471547" y="0"/>
                  </a:lnTo>
                  <a:lnTo>
                    <a:pt x="3471547" y="1129997"/>
                  </a:lnTo>
                  <a:lnTo>
                    <a:pt x="0" y="1129997"/>
                  </a:lnTo>
                  <a:close/>
                </a:path>
              </a:pathLst>
            </a:custGeom>
            <a:solidFill>
              <a:srgbClr val="0B5298"/>
            </a:solidFill>
          </p:spPr>
          <p:txBody>
            <a:bodyPr/>
            <a:lstStyle/>
            <a:p>
              <a:endParaRPr lang="en-US"/>
            </a:p>
          </p:txBody>
        </p:sp>
        <p:sp>
          <p:nvSpPr>
            <p:cNvPr id="8" name="TextBox 8"/>
            <p:cNvSpPr txBox="1"/>
            <p:nvPr/>
          </p:nvSpPr>
          <p:spPr>
            <a:xfrm>
              <a:off x="0" y="-76200"/>
              <a:ext cx="3471547" cy="1206197"/>
            </a:xfrm>
            <a:prstGeom prst="rect">
              <a:avLst/>
            </a:prstGeom>
          </p:spPr>
          <p:txBody>
            <a:bodyPr lIns="50800" tIns="50800" rIns="50800" bIns="50800" rtlCol="0" anchor="ctr"/>
            <a:lstStyle/>
            <a:p>
              <a:pPr marL="0" lvl="0" indent="0" algn="ctr">
                <a:lnSpc>
                  <a:spcPts val="2659"/>
                </a:lnSpc>
              </a:pPr>
              <a:endParaRPr/>
            </a:p>
          </p:txBody>
        </p:sp>
      </p:grpSp>
      <p:sp>
        <p:nvSpPr>
          <p:cNvPr id="9" name="Freeform 9"/>
          <p:cNvSpPr/>
          <p:nvPr/>
        </p:nvSpPr>
        <p:spPr>
          <a:xfrm>
            <a:off x="-734405" y="-1009042"/>
            <a:ext cx="4436419" cy="4824276"/>
          </a:xfrm>
          <a:custGeom>
            <a:avLst/>
            <a:gdLst/>
            <a:ahLst/>
            <a:cxnLst/>
            <a:rect l="l" t="t" r="r" b="b"/>
            <a:pathLst>
              <a:path w="4436419" h="4824276">
                <a:moveTo>
                  <a:pt x="0" y="0"/>
                </a:moveTo>
                <a:lnTo>
                  <a:pt x="4436419" y="0"/>
                </a:lnTo>
                <a:lnTo>
                  <a:pt x="4436419" y="4824276"/>
                </a:lnTo>
                <a:lnTo>
                  <a:pt x="0" y="482427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0" name="Freeform 10"/>
          <p:cNvSpPr/>
          <p:nvPr/>
        </p:nvSpPr>
        <p:spPr>
          <a:xfrm flipH="1" flipV="1">
            <a:off x="14470870" y="6490580"/>
            <a:ext cx="4436419" cy="4824276"/>
          </a:xfrm>
          <a:custGeom>
            <a:avLst/>
            <a:gdLst/>
            <a:ahLst/>
            <a:cxnLst/>
            <a:rect l="l" t="t" r="r" b="b"/>
            <a:pathLst>
              <a:path w="4436419" h="4824276">
                <a:moveTo>
                  <a:pt x="4436419" y="4824276"/>
                </a:moveTo>
                <a:lnTo>
                  <a:pt x="0" y="4824276"/>
                </a:lnTo>
                <a:lnTo>
                  <a:pt x="0" y="0"/>
                </a:lnTo>
                <a:lnTo>
                  <a:pt x="4436419" y="0"/>
                </a:lnTo>
                <a:lnTo>
                  <a:pt x="4436419" y="4824276"/>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1" name="Freeform 11"/>
          <p:cNvSpPr/>
          <p:nvPr/>
        </p:nvSpPr>
        <p:spPr>
          <a:xfrm>
            <a:off x="-64837" y="8060016"/>
            <a:ext cx="2312531" cy="2312531"/>
          </a:xfrm>
          <a:custGeom>
            <a:avLst/>
            <a:gdLst/>
            <a:ahLst/>
            <a:cxnLst/>
            <a:rect l="l" t="t" r="r" b="b"/>
            <a:pathLst>
              <a:path w="2312531" h="2312531">
                <a:moveTo>
                  <a:pt x="0" y="0"/>
                </a:moveTo>
                <a:lnTo>
                  <a:pt x="2312531" y="0"/>
                </a:lnTo>
                <a:lnTo>
                  <a:pt x="2312531" y="2312531"/>
                </a:lnTo>
                <a:lnTo>
                  <a:pt x="0" y="231253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2" name="Freeform 12"/>
          <p:cNvSpPr/>
          <p:nvPr/>
        </p:nvSpPr>
        <p:spPr>
          <a:xfrm flipH="1" flipV="1">
            <a:off x="16546204" y="-618883"/>
            <a:ext cx="2114182" cy="4291608"/>
          </a:xfrm>
          <a:custGeom>
            <a:avLst/>
            <a:gdLst/>
            <a:ahLst/>
            <a:cxnLst/>
            <a:rect l="l" t="t" r="r" b="b"/>
            <a:pathLst>
              <a:path w="2114182" h="4291608">
                <a:moveTo>
                  <a:pt x="2114182" y="4291608"/>
                </a:moveTo>
                <a:lnTo>
                  <a:pt x="0" y="4291608"/>
                </a:lnTo>
                <a:lnTo>
                  <a:pt x="0" y="0"/>
                </a:lnTo>
                <a:lnTo>
                  <a:pt x="2114182" y="0"/>
                </a:lnTo>
                <a:lnTo>
                  <a:pt x="2114182" y="4291608"/>
                </a:lnTo>
                <a:close/>
              </a:path>
            </a:pathLst>
          </a:custGeom>
          <a:blipFill>
            <a:blip r:embed="rId2"/>
            <a:stretch>
              <a:fillRect/>
            </a:stretch>
          </a:blipFill>
        </p:spPr>
        <p:txBody>
          <a:bodyPr/>
          <a:lstStyle/>
          <a:p>
            <a:endParaRPr lang="en-US"/>
          </a:p>
        </p:txBody>
      </p:sp>
      <p:sp>
        <p:nvSpPr>
          <p:cNvPr id="13" name="Freeform 13"/>
          <p:cNvSpPr/>
          <p:nvPr/>
        </p:nvSpPr>
        <p:spPr>
          <a:xfrm flipH="1" flipV="1">
            <a:off x="15975469" y="-127566"/>
            <a:ext cx="2312531" cy="2312531"/>
          </a:xfrm>
          <a:custGeom>
            <a:avLst/>
            <a:gdLst/>
            <a:ahLst/>
            <a:cxnLst/>
            <a:rect l="l" t="t" r="r" b="b"/>
            <a:pathLst>
              <a:path w="2312531" h="2312531">
                <a:moveTo>
                  <a:pt x="2312531" y="2312532"/>
                </a:moveTo>
                <a:lnTo>
                  <a:pt x="0" y="2312532"/>
                </a:lnTo>
                <a:lnTo>
                  <a:pt x="0" y="0"/>
                </a:lnTo>
                <a:lnTo>
                  <a:pt x="2312531" y="0"/>
                </a:lnTo>
                <a:lnTo>
                  <a:pt x="2312531" y="2312532"/>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4" name="TextBox 14"/>
          <p:cNvSpPr txBox="1"/>
          <p:nvPr/>
        </p:nvSpPr>
        <p:spPr>
          <a:xfrm>
            <a:off x="4243940" y="5889453"/>
            <a:ext cx="9800119" cy="3082251"/>
          </a:xfrm>
          <a:prstGeom prst="rect">
            <a:avLst/>
          </a:prstGeom>
        </p:spPr>
        <p:txBody>
          <a:bodyPr lIns="0" tIns="0" rIns="0" bIns="0" rtlCol="0" anchor="t">
            <a:spAutoFit/>
          </a:bodyPr>
          <a:lstStyle/>
          <a:p>
            <a:pPr marL="0" lvl="0" indent="0" algn="ctr">
              <a:lnSpc>
                <a:spcPts val="5848"/>
              </a:lnSpc>
            </a:pPr>
            <a:r>
              <a:rPr lang="en-US" sz="5848">
                <a:solidFill>
                  <a:srgbClr val="454B5D"/>
                </a:solidFill>
                <a:latin typeface="ITC Avant Garde Gothic"/>
                <a:ea typeface="ITC Avant Garde Gothic"/>
                <a:cs typeface="ITC Avant Garde Gothic"/>
                <a:sym typeface="ITC Avant Garde Gothic"/>
              </a:rPr>
              <a:t>CyberShield Team - A' Sharqiyah University</a:t>
            </a:r>
          </a:p>
          <a:p>
            <a:pPr marL="0" lvl="0" indent="0" algn="ctr">
              <a:lnSpc>
                <a:spcPts val="5848"/>
              </a:lnSpc>
            </a:pPr>
            <a:r>
              <a:rPr lang="en-US" sz="5848">
                <a:solidFill>
                  <a:srgbClr val="454B5D"/>
                </a:solidFill>
                <a:latin typeface="ITC Avant Garde Gothic"/>
                <a:ea typeface="ITC Avant Garde Gothic"/>
                <a:cs typeface="ITC Avant Garde Gothic"/>
                <a:sym typeface="ITC Avant Garde Gothic"/>
              </a:rPr>
              <a:t>We welcome your questions and feedback</a:t>
            </a:r>
          </a:p>
        </p:txBody>
      </p:sp>
      <p:sp>
        <p:nvSpPr>
          <p:cNvPr id="15" name="TextBox 15"/>
          <p:cNvSpPr txBox="1"/>
          <p:nvPr/>
        </p:nvSpPr>
        <p:spPr>
          <a:xfrm>
            <a:off x="2312531" y="3909892"/>
            <a:ext cx="13662938" cy="1685849"/>
          </a:xfrm>
          <a:prstGeom prst="rect">
            <a:avLst/>
          </a:prstGeom>
        </p:spPr>
        <p:txBody>
          <a:bodyPr lIns="0" tIns="0" rIns="0" bIns="0" rtlCol="0" anchor="t">
            <a:spAutoFit/>
          </a:bodyPr>
          <a:lstStyle/>
          <a:p>
            <a:pPr marL="0" lvl="0" indent="0" algn="ctr">
              <a:lnSpc>
                <a:spcPts val="11848"/>
              </a:lnSpc>
            </a:pPr>
            <a:r>
              <a:rPr lang="en-US" sz="14810" b="1">
                <a:solidFill>
                  <a:srgbClr val="454B5D"/>
                </a:solidFill>
                <a:latin typeface="League Spartan"/>
                <a:ea typeface="League Spartan"/>
                <a:cs typeface="League Spartan"/>
                <a:sym typeface="League Spartan"/>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TotalTime>
  <Words>476</Words>
  <Application>Microsoft Office PowerPoint</Application>
  <PresentationFormat>Custom</PresentationFormat>
  <Paragraphs>48</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ITC Avant Garde Gothic</vt:lpstr>
      <vt:lpstr>League Spartan</vt:lpstr>
      <vt:lpstr>Calibri</vt:lpstr>
      <vt:lpstr>ITC Avant Garde Gothic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CyberShield System: OOP Project Overview</dc:title>
  <dc:creator>Muntasar Aljulanadani</dc:creator>
  <cp:lastModifiedBy>Muntasar Aljulanadani</cp:lastModifiedBy>
  <cp:revision>2</cp:revision>
  <dcterms:created xsi:type="dcterms:W3CDTF">2006-08-16T00:00:00Z</dcterms:created>
  <dcterms:modified xsi:type="dcterms:W3CDTF">2026-05-05T09:59:47Z</dcterms:modified>
  <dc:identifier>DAHIumkbJho</dc:identifier>
</cp:coreProperties>
</file>